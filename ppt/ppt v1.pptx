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78" r:id="rId11"/>
    <p:sldId id="279" r:id="rId12"/>
    <p:sldId id="280" r:id="rId13"/>
    <p:sldId id="264" r:id="rId14"/>
    <p:sldId id="266" r:id="rId15"/>
    <p:sldId id="265" r:id="rId16"/>
    <p:sldId id="281" r:id="rId17"/>
    <p:sldId id="271" r:id="rId18"/>
    <p:sldId id="272" r:id="rId19"/>
    <p:sldId id="274" r:id="rId20"/>
    <p:sldId id="273" r:id="rId21"/>
    <p:sldId id="275" r:id="rId22"/>
    <p:sldId id="267" r:id="rId23"/>
    <p:sldId id="268" r:id="rId24"/>
    <p:sldId id="26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11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836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68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24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34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684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983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1286" y="604424"/>
            <a:ext cx="11785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 smtClean="0"/>
              <a:t>Smart Traffic Management System</a:t>
            </a:r>
            <a:endParaRPr lang="en-US" sz="2400" b="1" dirty="0"/>
          </a:p>
        </p:txBody>
      </p:sp>
      <p:sp>
        <p:nvSpPr>
          <p:cNvPr id="3" name="TextBox 8"/>
          <p:cNvSpPr txBox="1"/>
          <p:nvPr/>
        </p:nvSpPr>
        <p:spPr>
          <a:xfrm>
            <a:off x="6531831" y="5124421"/>
            <a:ext cx="60445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b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Mr. Chhotelal </a:t>
            </a:r>
            <a:r>
              <a:rPr lang="en-US" b="1" dirty="0" smtClean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Kushwaha</a:t>
            </a:r>
          </a:p>
          <a:p>
            <a:pPr defTabSz="457200"/>
            <a:r>
              <a:rPr lang="en-US" b="1" dirty="0" smtClean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Mr. Arunabha Nag</a:t>
            </a:r>
          </a:p>
          <a:p>
            <a:pPr defTabSz="457200"/>
            <a:r>
              <a:rPr lang="en-US" b="1" dirty="0" smtClean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Ms. Shweta Maurya</a:t>
            </a:r>
          </a:p>
          <a:p>
            <a:pPr defTabSz="457200"/>
            <a:r>
              <a:rPr lang="en-US" b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Department of Computer Science and Engineering      </a:t>
            </a:r>
          </a:p>
          <a:p>
            <a:pPr defTabSz="457200"/>
            <a:r>
              <a:rPr lang="en-US" b="1" dirty="0" smtClean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B.Tech</a:t>
            </a:r>
            <a:r>
              <a:rPr lang="en-US" b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. </a:t>
            </a:r>
            <a:r>
              <a:rPr lang="en-US" b="1" dirty="0" smtClean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Seventh Semester</a:t>
            </a:r>
            <a:endParaRPr lang="en-US" b="1" dirty="0">
              <a:solidFill>
                <a:prstClr val="black"/>
              </a:solidFill>
              <a:latin typeface="Aptos (Body)"/>
              <a:cs typeface="Times New Roman" panose="02020603050405020304" pitchFamily="18" charset="0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xmlns="" xmlns:lc="http://schemas.openxmlformats.org/drawingml/2006/lockedCanvas" id="{CF392111-D597-450E-A5A7-8D5F079534A3}"/>
              </a:ext>
            </a:extLst>
          </p:cNvPr>
          <p:cNvSpPr txBox="1"/>
          <p:nvPr/>
        </p:nvSpPr>
        <p:spPr>
          <a:xfrm>
            <a:off x="185546" y="4672182"/>
            <a:ext cx="1178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400" b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		</a:t>
            </a:r>
            <a:endParaRPr lang="en-US" sz="1600" b="1" dirty="0">
              <a:solidFill>
                <a:prstClr val="black"/>
              </a:solidFill>
              <a:latin typeface="Aptos (Body)"/>
              <a:cs typeface="Times New Roman" panose="02020603050405020304" pitchFamily="18" charset="0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xmlns="" xmlns:lc="http://schemas.openxmlformats.org/drawingml/2006/lockedCanvas" id="{B7E91C4E-8BAE-42F2-A06D-F743C40B3FF9}"/>
              </a:ext>
            </a:extLst>
          </p:cNvPr>
          <p:cNvSpPr txBox="1"/>
          <p:nvPr/>
        </p:nvSpPr>
        <p:spPr>
          <a:xfrm>
            <a:off x="457400" y="5166298"/>
            <a:ext cx="5691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endParaRPr lang="en-GB" b="1" dirty="0" smtClean="0">
              <a:solidFill>
                <a:prstClr val="black"/>
              </a:solidFill>
              <a:latin typeface="Aptos (Body)"/>
              <a:cs typeface="Times New Roman" panose="02020603050405020304" pitchFamily="18" charset="0"/>
            </a:endParaRPr>
          </a:p>
          <a:p>
            <a:pPr defTabSz="457200"/>
            <a:r>
              <a:rPr lang="en-GB" b="1" dirty="0" err="1" smtClean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Prof</a:t>
            </a:r>
            <a:r>
              <a:rPr lang="en-GB" b="1" dirty="0" err="1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.</a:t>
            </a:r>
            <a:r>
              <a:rPr lang="en-GB" b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 Premnath</a:t>
            </a:r>
          </a:p>
          <a:p>
            <a:pPr defTabSz="457200"/>
            <a:r>
              <a:rPr lang="en-GB" b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sp>
        <p:nvSpPr>
          <p:cNvPr id="6" name="TextBox 7"/>
          <p:cNvSpPr txBox="1"/>
          <p:nvPr/>
        </p:nvSpPr>
        <p:spPr>
          <a:xfrm>
            <a:off x="6531831" y="4702991"/>
            <a:ext cx="1527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 b="1" i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Presented by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400" y="4702991"/>
            <a:ext cx="2601994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GB" sz="1600" b="1" i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Under the supervision of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269019" y="69246"/>
            <a:ext cx="2446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Presentation on, </a:t>
            </a:r>
            <a:endParaRPr lang="en-IN" sz="2200" b="1" dirty="0">
              <a:solidFill>
                <a:prstClr val="black"/>
              </a:solidFill>
              <a:latin typeface="Aptos (Body)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6"/>
          <p:cNvSpPr>
            <a:spLocks noGrp="1"/>
          </p:cNvSpPr>
          <p:nvPr/>
        </p:nvSpPr>
        <p:spPr>
          <a:xfrm>
            <a:off x="10959920" y="6423629"/>
            <a:ext cx="4727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latin typeface="Aptos (Body)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xmlns="" xmlns:lc="http://schemas.openxmlformats.org/drawingml/2006/lockedCanvas" id="{80092494-FE3D-8A70-DA44-B2A71F202F21}"/>
              </a:ext>
            </a:extLst>
          </p:cNvPr>
          <p:cNvSpPr txBox="1"/>
          <p:nvPr/>
        </p:nvSpPr>
        <p:spPr>
          <a:xfrm>
            <a:off x="2104569" y="3254787"/>
            <a:ext cx="8089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b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Hemwati Nandan Bahuguna Garhwal University (A Central University)</a:t>
            </a:r>
          </a:p>
          <a:p>
            <a:pPr algn="ctr" defTabSz="457200"/>
            <a:r>
              <a:rPr lang="en-US" b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School of Engineering and Technology</a:t>
            </a:r>
          </a:p>
          <a:p>
            <a:pPr algn="ctr" defTabSz="457200"/>
            <a:r>
              <a:rPr lang="en-US" b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Department of Computer Science and Engineering    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xmlns:lc="http://schemas.openxmlformats.org/drawingml/2006/lockedCanvas" id="{38F17AF4-C607-9F8E-8CA3-120C2E4A13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663" y="1170380"/>
            <a:ext cx="1558846" cy="1206661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xmlns="" xmlns:lc="http://schemas.openxmlformats.org/drawingml/2006/lockedCanvas" id="{003FBE86-86C9-AE83-7FBF-B3C577A126AF}"/>
              </a:ext>
            </a:extLst>
          </p:cNvPr>
          <p:cNvSpPr txBox="1"/>
          <p:nvPr/>
        </p:nvSpPr>
        <p:spPr>
          <a:xfrm>
            <a:off x="3718218" y="2565484"/>
            <a:ext cx="4861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b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Skill Course: </a:t>
            </a:r>
            <a:r>
              <a:rPr lang="en-US" b="1" dirty="0" smtClean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SET/CS/SC/C704 </a:t>
            </a:r>
            <a:r>
              <a:rPr lang="en-US" b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	</a:t>
            </a:r>
            <a:endParaRPr lang="en-US" b="1" dirty="0" smtClean="0">
              <a:solidFill>
                <a:prstClr val="black"/>
              </a:solidFill>
              <a:latin typeface="Aptos (Body)"/>
              <a:cs typeface="Times New Roman" panose="02020603050405020304" pitchFamily="18" charset="0"/>
            </a:endParaRPr>
          </a:p>
          <a:p>
            <a:pPr algn="ctr" defTabSz="457200"/>
            <a:r>
              <a:rPr lang="en-US" b="1" dirty="0" smtClean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Mini </a:t>
            </a:r>
            <a:r>
              <a:rPr lang="en-US" b="1" dirty="0">
                <a:solidFill>
                  <a:prstClr val="black"/>
                </a:solidFill>
                <a:latin typeface="Aptos (Body)"/>
                <a:cs typeface="Times New Roman" panose="02020603050405020304" pitchFamily="18" charset="0"/>
              </a:rPr>
              <a:t>Project </a:t>
            </a:r>
            <a:endParaRPr lang="en-IN" b="1" dirty="0">
              <a:solidFill>
                <a:prstClr val="black"/>
              </a:solidFill>
              <a:latin typeface="Aptos (Body)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04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760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</a:rPr>
              <a:t>Presentation Outline</a:t>
            </a:r>
            <a:endParaRPr lang="en-US" sz="3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625867"/>
              </p:ext>
            </p:extLst>
          </p:nvPr>
        </p:nvGraphicFramePr>
        <p:xfrm>
          <a:off x="685800" y="1188720"/>
          <a:ext cx="107899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8046720"/>
                <a:gridCol w="2011680"/>
              </a:tblGrid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ptos"/>
                        </a:rPr>
                        <a:t>S. No.</a:t>
                      </a:r>
                    </a:p>
                  </a:txBody>
                  <a:tcPr marL="73152" marR="73152">
                    <a:solidFill>
                      <a:srgbClr val="214B8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Heading</a:t>
                      </a:r>
                    </a:p>
                  </a:txBody>
                  <a:tcPr marL="73152" marR="73152">
                    <a:solidFill>
                      <a:srgbClr val="214B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Page Number</a:t>
                      </a:r>
                    </a:p>
                  </a:txBody>
                  <a:tcPr marL="73152" marR="73152">
                    <a:solidFill>
                      <a:srgbClr val="214B84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Introduction &amp; Background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1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Objectives &amp; Scope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Existing System &amp; Motivation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3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smtClean="0">
                          <a:solidFill>
                            <a:srgbClr val="1E1E1E"/>
                          </a:solidFill>
                          <a:latin typeface="Aptos"/>
                        </a:rPr>
                        <a:t>Methodology</a:t>
                      </a:r>
                      <a:endParaRPr sz="1400" dirty="0">
                        <a:solidFill>
                          <a:srgbClr val="1E1E1E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Design &amp; Implementation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5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System Architecture Diagram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Database Design / ER Diagram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7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User Flow Diagram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Results </a:t>
                      </a:r>
                      <a:endParaRPr sz="1400" dirty="0">
                        <a:solidFill>
                          <a:srgbClr val="1E1E1E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 smtClean="0"/>
                        <a:t>9</a:t>
                      </a:r>
                      <a:r>
                        <a:rPr lang="en-US" dirty="0" smtClean="0"/>
                        <a:t>-14</a:t>
                      </a:r>
                      <a:endParaRPr dirty="0"/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Limitations &amp; Future Work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 smtClean="0"/>
                        <a:t>1</a:t>
                      </a:r>
                      <a:r>
                        <a:rPr lang="en-US" dirty="0" smtClean="0"/>
                        <a:t>5</a:t>
                      </a:r>
                      <a:endParaRPr dirty="0"/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1E1E"/>
                          </a:solidFill>
                          <a:latin typeface="Aptos"/>
                        </a:rPr>
                        <a:t>References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 smtClean="0"/>
                        <a:t>1</a:t>
                      </a:r>
                      <a:r>
                        <a:rPr lang="en-US" dirty="0" smtClean="0"/>
                        <a:t>6</a:t>
                      </a:r>
                      <a:endParaRPr dirty="0"/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46520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Aptos"/>
              </a:rPr>
              <a:t>May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0792" y="5532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</a:rPr>
              <a:t>1. Introduction </a:t>
            </a:r>
            <a:r>
              <a:rPr lang="en-US" sz="3000" b="1" dirty="0" smtClean="0">
                <a:solidFill>
                  <a:srgbClr val="0B1F4D"/>
                </a:solidFill>
              </a:rPr>
              <a:t>and </a:t>
            </a:r>
            <a:r>
              <a:rPr lang="en-US" sz="3000" b="1" dirty="0">
                <a:solidFill>
                  <a:srgbClr val="0B1F4D"/>
                </a:solidFill>
              </a:rPr>
              <a:t>Background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225296"/>
            <a:ext cx="11064240" cy="0"/>
          </a:xfrm>
          <a:prstGeom prst="line">
            <a:avLst/>
          </a:prstGeom>
          <a:noFill/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586212" cy="4681614"/>
          </a:xfrm>
          <a:prstGeom prst="roundRect">
            <a:avLst>
              <a:gd name="adj" fmla="val 1622"/>
            </a:avLst>
          </a:prstGeom>
          <a:solidFill>
            <a:srgbClr val="F5F9FF"/>
          </a:solidFill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pPr algn="just"/>
            <a:endParaRPr dirty="0"/>
          </a:p>
        </p:txBody>
      </p:sp>
      <p:sp>
        <p:nvSpPr>
          <p:cNvPr id="7" name="Text 5"/>
          <p:cNvSpPr/>
          <p:nvPr/>
        </p:nvSpPr>
        <p:spPr>
          <a:xfrm>
            <a:off x="832104" y="1618488"/>
            <a:ext cx="3090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5BF"/>
                </a:solidFill>
              </a:rPr>
              <a:t>Introduction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2103" y="1984248"/>
            <a:ext cx="5169451" cy="4055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41464" y="550468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320040" y="6405259"/>
            <a:ext cx="101822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600" b="0" dirty="0" smtClean="0">
                <a:solidFill>
                  <a:srgbClr val="464646"/>
                </a:solidFill>
                <a:latin typeface="Aptos"/>
              </a:rPr>
              <a:t>Oct </a:t>
            </a:r>
            <a:r>
              <a:rPr sz="1600" b="0" dirty="0" smtClean="0">
                <a:solidFill>
                  <a:srgbClr val="464646"/>
                </a:solidFill>
                <a:latin typeface="Aptos"/>
              </a:rPr>
              <a:t>2026</a:t>
            </a:r>
            <a:endParaRPr sz="1600" b="0" dirty="0">
              <a:solidFill>
                <a:srgbClr val="464646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429999" y="6248701"/>
            <a:ext cx="508715" cy="4721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/>
              <a:t>1</a:t>
            </a:r>
          </a:p>
        </p:txBody>
      </p:sp>
      <p:sp>
        <p:nvSpPr>
          <p:cNvPr id="31" name="Rectangle 2"/>
          <p:cNvSpPr>
            <a:spLocks noChangeArrowheads="1"/>
          </p:cNvSpPr>
          <p:nvPr/>
        </p:nvSpPr>
        <p:spPr bwMode="auto">
          <a:xfrm rot="10800000" flipV="1">
            <a:off x="833596" y="2285938"/>
            <a:ext cx="559344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Artificial Intelligence (AI) and Computer Vision for traffic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Detects, tracks, and counts vehicles from traffic videos.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Analyzes traffic density and identifies congestion levels.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real-time traffic insights for monitoring.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better traffic-management decisions.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Aims to reduce congestion and improve traffic flow.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548" y="1508760"/>
            <a:ext cx="5154620" cy="4694327"/>
          </a:xfrm>
          <a:prstGeom prst="rect">
            <a:avLst/>
          </a:prstGeom>
        </p:spPr>
      </p:pic>
      <p:sp>
        <p:nvSpPr>
          <p:cNvPr id="35" name="Text 5"/>
          <p:cNvSpPr/>
          <p:nvPr/>
        </p:nvSpPr>
        <p:spPr>
          <a:xfrm>
            <a:off x="6868066" y="1670882"/>
            <a:ext cx="3090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accent6"/>
                </a:solidFill>
              </a:rPr>
              <a:t>Background</a:t>
            </a:r>
          </a:p>
        </p:txBody>
      </p:sp>
      <p:sp>
        <p:nvSpPr>
          <p:cNvPr id="36" name="Rectangle 2"/>
          <p:cNvSpPr>
            <a:spLocks noChangeArrowheads="1"/>
          </p:cNvSpPr>
          <p:nvPr/>
        </p:nvSpPr>
        <p:spPr bwMode="auto">
          <a:xfrm rot="10800000" flipV="1">
            <a:off x="6796930" y="4193380"/>
            <a:ext cx="4407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61474" y="2286001"/>
            <a:ext cx="427890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</a:rPr>
              <a:t>Increasing number of vehicles leads to frequent traffic congestion.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</a:rPr>
              <a:t>Traditional traffic monitoring often requires manual observation.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</a:rPr>
              <a:t>Traffic congestion causes delays, fuel wastage, and increased pollution.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</a:rPr>
              <a:t>AI and Computer Vision enable automated vehicle detection and tracking.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</a:rPr>
              <a:t>Smart traffic analysis supports efficient monitoring and better traffic-flow management.</a:t>
            </a:r>
          </a:p>
          <a:p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11360" y="587084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</a:rPr>
              <a:t>2. Objectives and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225296"/>
            <a:ext cx="11064240" cy="0"/>
          </a:xfrm>
          <a:prstGeom prst="line">
            <a:avLst/>
          </a:prstGeom>
          <a:noFill/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5303520" cy="4251960"/>
          </a:xfrm>
          <a:prstGeom prst="roundRect">
            <a:avLst>
              <a:gd name="adj" fmla="val 1290"/>
            </a:avLst>
          </a:prstGeom>
          <a:solidFill>
            <a:srgbClr val="F5F9FF"/>
          </a:solidFill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23544" y="1618488"/>
            <a:ext cx="5010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5BF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-1896054" y="8217976"/>
            <a:ext cx="2398974" cy="457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>
              <a:lnSpc>
                <a:spcPct val="150000"/>
              </a:lnSpc>
            </a:pPr>
            <a:endParaRPr lang="en-US" dirty="0" smtClean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5074920" cy="4251960"/>
          </a:xfrm>
          <a:prstGeom prst="roundRect">
            <a:avLst>
              <a:gd name="adj" fmla="val 1290"/>
            </a:avLst>
          </a:prstGeom>
          <a:solidFill>
            <a:srgbClr val="F5F9FF"/>
          </a:solidFill>
          <a:ln w="15240">
            <a:solidFill>
              <a:srgbClr val="08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01384" y="1618488"/>
            <a:ext cx="4782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Scope</a:t>
            </a:r>
          </a:p>
        </p:txBody>
      </p:sp>
      <p:sp>
        <p:nvSpPr>
          <p:cNvPr id="11" name="Text 9"/>
          <p:cNvSpPr/>
          <p:nvPr/>
        </p:nvSpPr>
        <p:spPr>
          <a:xfrm rot="10800000">
            <a:off x="8763948" y="6473290"/>
            <a:ext cx="1905195" cy="457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>
              <a:lnSpc>
                <a:spcPct val="150000"/>
              </a:lnSpc>
            </a:pPr>
            <a:endParaRPr lang="en-US" dirty="0">
              <a:solidFill>
                <a:srgbClr val="172033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6446520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Aptos"/>
              </a:rPr>
              <a:t>May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29999" y="6248701"/>
            <a:ext cx="508715" cy="4721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/>
              <a:t>2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 rot="10800000" flipV="1">
            <a:off x="923541" y="2412664"/>
            <a:ext cx="5010913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vehicle detection, tracking, and counting.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traffic density and congestion levels.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real-time traffic monitoring insights.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traffic analysis using AI and Computer Vision.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better traffic-management decisions.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 rot="10800000" flipV="1">
            <a:off x="6501384" y="2412664"/>
            <a:ext cx="485709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traffic videos captured by cameras.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vehicle movement and traffic volume.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low, medium, and high traffic density.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traffic statistics for easier monitoring.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future integration with smart traffic signals and intelligent transportation systems.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524299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</a:rPr>
              <a:t>3. Existing System and Motivation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225296"/>
            <a:ext cx="11064240" cy="0"/>
          </a:xfrm>
          <a:prstGeom prst="line">
            <a:avLst/>
          </a:prstGeom>
          <a:noFill/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71500" y="1417320"/>
            <a:ext cx="3442716" cy="4785402"/>
          </a:xfrm>
          <a:prstGeom prst="roundRect">
            <a:avLst>
              <a:gd name="adj" fmla="val 1600"/>
            </a:avLst>
          </a:prstGeom>
          <a:solidFill>
            <a:srgbClr val="F5F9FF"/>
          </a:solidFill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77824" y="1527048"/>
            <a:ext cx="3136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B55BF"/>
                </a:solidFill>
              </a:rPr>
              <a:t>Existing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4662" y="1926293"/>
            <a:ext cx="3136392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238244" y="1385252"/>
            <a:ext cx="3543300" cy="4785402"/>
          </a:xfrm>
          <a:prstGeom prst="roundRect">
            <a:avLst>
              <a:gd name="adj" fmla="val 1600"/>
            </a:avLst>
          </a:prstGeom>
          <a:solidFill>
            <a:srgbClr val="F5F9FF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81144" y="1527048"/>
            <a:ext cx="3136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Limitations</a:t>
            </a:r>
          </a:p>
        </p:txBody>
      </p:sp>
      <p:sp>
        <p:nvSpPr>
          <p:cNvPr id="11" name="Text 9"/>
          <p:cNvSpPr/>
          <p:nvPr/>
        </p:nvSpPr>
        <p:spPr>
          <a:xfrm>
            <a:off x="4581144" y="1900149"/>
            <a:ext cx="3136392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493008" cy="4785402"/>
          </a:xfrm>
          <a:prstGeom prst="roundRect">
            <a:avLst>
              <a:gd name="adj" fmla="val 1644"/>
            </a:avLst>
          </a:prstGeom>
          <a:solidFill>
            <a:srgbClr val="F5F9FF"/>
          </a:solidFill>
          <a:ln w="15240">
            <a:solidFill>
              <a:srgbClr val="08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84464" y="1527048"/>
            <a:ext cx="3044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0000"/>
                </a:solidFill>
              </a:rPr>
              <a:t>Motivation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62188" y="1912642"/>
            <a:ext cx="3044952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20040" y="6446520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Aptos"/>
              </a:rPr>
              <a:t>May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29999" y="6248701"/>
            <a:ext cx="508715" cy="4721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/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6933" y="2059544"/>
            <a:ext cx="337185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Google Maps:</a:t>
            </a:r>
            <a:r>
              <a:rPr lang="en-US" sz="1600" dirty="0"/>
              <a:t> Provides traffic conditions and route guidance</a:t>
            </a:r>
            <a:r>
              <a:rPr lang="en-US" sz="16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 err="1"/>
              <a:t>Mappls</a:t>
            </a:r>
            <a:r>
              <a:rPr lang="en-US" sz="1600" b="1" dirty="0"/>
              <a:t>:</a:t>
            </a:r>
            <a:r>
              <a:rPr lang="en-US" sz="1600" dirty="0"/>
              <a:t> Offers mapping, navigation, and traffic-related services</a:t>
            </a:r>
            <a:r>
              <a:rPr lang="en-US" sz="16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Traffic Police / ITMS:</a:t>
            </a:r>
            <a:r>
              <a:rPr lang="en-US" sz="1600" dirty="0"/>
              <a:t> Uses traffic surveillance and management systems</a:t>
            </a:r>
            <a:r>
              <a:rPr lang="en-US" sz="16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Eclipse SUMO:</a:t>
            </a:r>
            <a:r>
              <a:rPr lang="en-US" sz="1600" dirty="0"/>
              <a:t> Simulates traffic flow but does not directly analyze uploaded real-world videos.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4438671" y="2069793"/>
            <a:ext cx="31424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Limited focus on user-uploaded video analysis in these platforms</a:t>
            </a:r>
            <a:r>
              <a:rPr lang="en-US" sz="16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Detailed vehicle-class counting may require a dedicated analysis tool</a:t>
            </a:r>
            <a:r>
              <a:rPr lang="en-US" sz="16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Advanced traffic systems may require specialized infrastructure.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8284464" y="2072423"/>
            <a:ext cx="304495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Automate vehicle detection, tracking, and counting</a:t>
            </a:r>
            <a:r>
              <a:rPr lang="en-US" sz="16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Analyze traffic density and speed-related information</a:t>
            </a:r>
            <a:r>
              <a:rPr lang="en-US" sz="16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Display traffic statistics through a web-based dashboard</a:t>
            </a:r>
            <a:r>
              <a:rPr lang="en-US" sz="16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Enable future expansion to live CCTV and multi-road monitoring.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548641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</a:rPr>
              <a:t>4. </a:t>
            </a:r>
            <a:r>
              <a:rPr lang="en-US" sz="3000" b="1" dirty="0" smtClean="0">
                <a:solidFill>
                  <a:srgbClr val="0B1F4D"/>
                </a:solidFill>
              </a:rPr>
              <a:t>Methodology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225296"/>
            <a:ext cx="11064240" cy="0"/>
          </a:xfrm>
          <a:prstGeom prst="line">
            <a:avLst/>
          </a:prstGeom>
          <a:noFill/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6446520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Aptos"/>
              </a:rPr>
              <a:t>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29999" y="6248701"/>
            <a:ext cx="508715" cy="4721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/>
              <a:t>4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2738463" y="1362590"/>
            <a:ext cx="6714767" cy="4719849"/>
            <a:chOff x="1798168" y="365760"/>
            <a:chExt cx="8595360" cy="5925312"/>
          </a:xfrm>
        </p:grpSpPr>
        <p:sp>
          <p:nvSpPr>
            <p:cNvPr id="31" name="Shape 0"/>
            <p:cNvSpPr/>
            <p:nvPr/>
          </p:nvSpPr>
          <p:spPr>
            <a:xfrm>
              <a:off x="1798168" y="365760"/>
              <a:ext cx="8595360" cy="329184"/>
            </a:xfrm>
            <a:prstGeom prst="rect">
              <a:avLst/>
            </a:prstGeom>
            <a:solidFill>
              <a:srgbClr val="EAF2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32" name="Text 1"/>
            <p:cNvSpPr/>
            <p:nvPr/>
          </p:nvSpPr>
          <p:spPr>
            <a:xfrm>
              <a:off x="1798168" y="365760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1. CCTV Video Input</a:t>
              </a:r>
              <a:endParaRPr lang="en-US" sz="1600" dirty="0"/>
            </a:p>
          </p:txBody>
        </p:sp>
        <p:sp>
          <p:nvSpPr>
            <p:cNvPr id="33" name="Shape 2"/>
            <p:cNvSpPr/>
            <p:nvPr/>
          </p:nvSpPr>
          <p:spPr>
            <a:xfrm>
              <a:off x="1798168" y="694944"/>
              <a:ext cx="8595360" cy="329184"/>
            </a:xfrm>
            <a:prstGeom prst="rect">
              <a:avLst/>
            </a:prstGeom>
            <a:solidFill>
              <a:srgbClr val="F3F7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34" name="Text 3"/>
            <p:cNvSpPr/>
            <p:nvPr/>
          </p:nvSpPr>
          <p:spPr>
            <a:xfrm>
              <a:off x="1798168" y="694944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Recorded .mp4 road traffic video file</a:t>
              </a:r>
              <a:endParaRPr lang="en-US" sz="1400" dirty="0"/>
            </a:p>
          </p:txBody>
        </p:sp>
        <p:sp>
          <p:nvSpPr>
            <p:cNvPr id="37" name="Shape 4"/>
            <p:cNvSpPr/>
            <p:nvPr/>
          </p:nvSpPr>
          <p:spPr>
            <a:xfrm rot="10800000">
              <a:off x="5967832" y="1069848"/>
              <a:ext cx="256032" cy="128016"/>
            </a:xfrm>
            <a:prstGeom prst="triangl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38" name="Shape 5"/>
            <p:cNvSpPr/>
            <p:nvPr/>
          </p:nvSpPr>
          <p:spPr>
            <a:xfrm>
              <a:off x="1798168" y="1243584"/>
              <a:ext cx="8595360" cy="329184"/>
            </a:xfrm>
            <a:prstGeom prst="rect">
              <a:avLst/>
            </a:prstGeom>
            <a:solidFill>
              <a:srgbClr val="EAF2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39" name="Text 6"/>
            <p:cNvSpPr/>
            <p:nvPr/>
          </p:nvSpPr>
          <p:spPr>
            <a:xfrm>
              <a:off x="1798168" y="1243584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2. OpenCV Frame Extraction &amp; Preprocessing</a:t>
              </a:r>
              <a:endParaRPr lang="en-US" sz="1600" dirty="0"/>
            </a:p>
          </p:txBody>
        </p:sp>
        <p:sp>
          <p:nvSpPr>
            <p:cNvPr id="40" name="Shape 7"/>
            <p:cNvSpPr/>
            <p:nvPr/>
          </p:nvSpPr>
          <p:spPr>
            <a:xfrm>
              <a:off x="1798168" y="1572768"/>
              <a:ext cx="8595360" cy="329184"/>
            </a:xfrm>
            <a:prstGeom prst="rect">
              <a:avLst/>
            </a:prstGeom>
            <a:solidFill>
              <a:srgbClr val="F3F7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41" name="Text 8"/>
            <p:cNvSpPr/>
            <p:nvPr/>
          </p:nvSpPr>
          <p:spPr>
            <a:xfrm>
              <a:off x="1798168" y="1572768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Read frames at 30 FPS, resize &amp; crop Region of Interest (ROI)</a:t>
              </a:r>
              <a:endParaRPr lang="en-US" sz="1400" dirty="0"/>
            </a:p>
          </p:txBody>
        </p:sp>
        <p:sp>
          <p:nvSpPr>
            <p:cNvPr id="42" name="Shape 9"/>
            <p:cNvSpPr/>
            <p:nvPr/>
          </p:nvSpPr>
          <p:spPr>
            <a:xfrm rot="10800000">
              <a:off x="5967832" y="1947672"/>
              <a:ext cx="256032" cy="128016"/>
            </a:xfrm>
            <a:prstGeom prst="triangl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43" name="Shape 10"/>
            <p:cNvSpPr/>
            <p:nvPr/>
          </p:nvSpPr>
          <p:spPr>
            <a:xfrm>
              <a:off x="1798168" y="2121408"/>
              <a:ext cx="8595360" cy="329184"/>
            </a:xfrm>
            <a:prstGeom prst="rect">
              <a:avLst/>
            </a:prstGeom>
            <a:solidFill>
              <a:srgbClr val="EAF2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44" name="Text 11"/>
            <p:cNvSpPr/>
            <p:nvPr/>
          </p:nvSpPr>
          <p:spPr>
            <a:xfrm>
              <a:off x="1798168" y="2121408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3. YOLOv8 Vehicle Detection Engine</a:t>
              </a:r>
              <a:endParaRPr lang="en-US" sz="1600" dirty="0"/>
            </a:p>
          </p:txBody>
        </p:sp>
        <p:sp>
          <p:nvSpPr>
            <p:cNvPr id="45" name="Shape 12"/>
            <p:cNvSpPr/>
            <p:nvPr/>
          </p:nvSpPr>
          <p:spPr>
            <a:xfrm>
              <a:off x="1798168" y="2450592"/>
              <a:ext cx="8595360" cy="329184"/>
            </a:xfrm>
            <a:prstGeom prst="rect">
              <a:avLst/>
            </a:prstGeom>
            <a:solidFill>
              <a:srgbClr val="F3F7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46" name="Text 13"/>
            <p:cNvSpPr/>
            <p:nvPr/>
          </p:nvSpPr>
          <p:spPr>
            <a:xfrm>
              <a:off x="1798168" y="2450592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Locate Cars, Bikes, Buses &amp; Trucks with Bounding Boxes</a:t>
              </a:r>
              <a:endParaRPr lang="en-US" sz="1400" dirty="0"/>
            </a:p>
          </p:txBody>
        </p:sp>
        <p:sp>
          <p:nvSpPr>
            <p:cNvPr id="47" name="Shape 14"/>
            <p:cNvSpPr/>
            <p:nvPr/>
          </p:nvSpPr>
          <p:spPr>
            <a:xfrm rot="10800000">
              <a:off x="5967832" y="2825496"/>
              <a:ext cx="256032" cy="128016"/>
            </a:xfrm>
            <a:prstGeom prst="triangl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48" name="Shape 15"/>
            <p:cNvSpPr/>
            <p:nvPr/>
          </p:nvSpPr>
          <p:spPr>
            <a:xfrm>
              <a:off x="1798168" y="2999232"/>
              <a:ext cx="8595360" cy="329184"/>
            </a:xfrm>
            <a:prstGeom prst="rect">
              <a:avLst/>
            </a:prstGeom>
            <a:solidFill>
              <a:srgbClr val="EAF2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49" name="Text 16"/>
            <p:cNvSpPr/>
            <p:nvPr/>
          </p:nvSpPr>
          <p:spPr>
            <a:xfrm>
              <a:off x="1798168" y="2999232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4. ByteTrack Multi-Object Tracking</a:t>
              </a:r>
              <a:endParaRPr lang="en-US" sz="1600" dirty="0"/>
            </a:p>
          </p:txBody>
        </p:sp>
        <p:sp>
          <p:nvSpPr>
            <p:cNvPr id="50" name="Shape 17"/>
            <p:cNvSpPr/>
            <p:nvPr/>
          </p:nvSpPr>
          <p:spPr>
            <a:xfrm>
              <a:off x="1798168" y="3328416"/>
              <a:ext cx="8595360" cy="329184"/>
            </a:xfrm>
            <a:prstGeom prst="rect">
              <a:avLst/>
            </a:prstGeom>
            <a:solidFill>
              <a:srgbClr val="F3F7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51" name="Text 18"/>
            <p:cNvSpPr/>
            <p:nvPr/>
          </p:nvSpPr>
          <p:spPr>
            <a:xfrm>
              <a:off x="1798168" y="3328416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Assign persistent ID to each vehicle across consecutive frames</a:t>
              </a:r>
              <a:endParaRPr lang="en-US" sz="1400" dirty="0"/>
            </a:p>
          </p:txBody>
        </p:sp>
        <p:sp>
          <p:nvSpPr>
            <p:cNvPr id="52" name="Shape 19"/>
            <p:cNvSpPr/>
            <p:nvPr/>
          </p:nvSpPr>
          <p:spPr>
            <a:xfrm rot="10800000">
              <a:off x="5967832" y="3703320"/>
              <a:ext cx="256032" cy="128016"/>
            </a:xfrm>
            <a:prstGeom prst="triangl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53" name="Shape 20"/>
            <p:cNvSpPr/>
            <p:nvPr/>
          </p:nvSpPr>
          <p:spPr>
            <a:xfrm>
              <a:off x="1798168" y="3877056"/>
              <a:ext cx="8595360" cy="329184"/>
            </a:xfrm>
            <a:prstGeom prst="rect">
              <a:avLst/>
            </a:prstGeom>
            <a:solidFill>
              <a:srgbClr val="EAF2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54" name="Text 21"/>
            <p:cNvSpPr/>
            <p:nvPr/>
          </p:nvSpPr>
          <p:spPr>
            <a:xfrm>
              <a:off x="1798168" y="3877056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5. Speed &amp; Line Crossing Calculation</a:t>
              </a:r>
              <a:endParaRPr lang="en-US" sz="1600" dirty="0"/>
            </a:p>
          </p:txBody>
        </p:sp>
        <p:sp>
          <p:nvSpPr>
            <p:cNvPr id="55" name="Shape 22"/>
            <p:cNvSpPr/>
            <p:nvPr/>
          </p:nvSpPr>
          <p:spPr>
            <a:xfrm>
              <a:off x="1798168" y="4206240"/>
              <a:ext cx="8595360" cy="329184"/>
            </a:xfrm>
            <a:prstGeom prst="rect">
              <a:avLst/>
            </a:prstGeom>
            <a:solidFill>
              <a:srgbClr val="F3F7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56" name="Text 23"/>
            <p:cNvSpPr/>
            <p:nvPr/>
          </p:nvSpPr>
          <p:spPr>
            <a:xfrm>
              <a:off x="1798168" y="4206240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Virtual line crossing count + 2-point pixel-to-meter speed (km/h)</a:t>
              </a:r>
              <a:endParaRPr lang="en-US" sz="1400" dirty="0"/>
            </a:p>
          </p:txBody>
        </p:sp>
        <p:sp>
          <p:nvSpPr>
            <p:cNvPr id="57" name="Shape 24"/>
            <p:cNvSpPr/>
            <p:nvPr/>
          </p:nvSpPr>
          <p:spPr>
            <a:xfrm rot="10800000">
              <a:off x="5967832" y="4581144"/>
              <a:ext cx="256032" cy="128016"/>
            </a:xfrm>
            <a:prstGeom prst="triangl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58" name="Shape 25"/>
            <p:cNvSpPr/>
            <p:nvPr/>
          </p:nvSpPr>
          <p:spPr>
            <a:xfrm>
              <a:off x="1798168" y="4754880"/>
              <a:ext cx="8595360" cy="329184"/>
            </a:xfrm>
            <a:prstGeom prst="rect">
              <a:avLst/>
            </a:prstGeom>
            <a:solidFill>
              <a:srgbClr val="EAF2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59" name="Text 26"/>
            <p:cNvSpPr/>
            <p:nvPr/>
          </p:nvSpPr>
          <p:spPr>
            <a:xfrm>
              <a:off x="1798168" y="4754880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6. Express REST API &amp; MongoDB Storage</a:t>
              </a:r>
              <a:endParaRPr lang="en-US" sz="1600" dirty="0"/>
            </a:p>
          </p:txBody>
        </p:sp>
        <p:sp>
          <p:nvSpPr>
            <p:cNvPr id="60" name="Shape 27"/>
            <p:cNvSpPr/>
            <p:nvPr/>
          </p:nvSpPr>
          <p:spPr>
            <a:xfrm>
              <a:off x="1798168" y="5084064"/>
              <a:ext cx="8595360" cy="329184"/>
            </a:xfrm>
            <a:prstGeom prst="rect">
              <a:avLst/>
            </a:prstGeom>
            <a:solidFill>
              <a:srgbClr val="F3F7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61" name="Text 28"/>
            <p:cNvSpPr/>
            <p:nvPr/>
          </p:nvSpPr>
          <p:spPr>
            <a:xfrm>
              <a:off x="1798168" y="5084064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Save traffic metrics (count, avg speed, density, congestion level)</a:t>
              </a:r>
              <a:endParaRPr lang="en-US" sz="1400" dirty="0"/>
            </a:p>
          </p:txBody>
        </p:sp>
        <p:sp>
          <p:nvSpPr>
            <p:cNvPr id="62" name="Shape 29"/>
            <p:cNvSpPr/>
            <p:nvPr/>
          </p:nvSpPr>
          <p:spPr>
            <a:xfrm rot="10800000">
              <a:off x="5967832" y="5458968"/>
              <a:ext cx="256032" cy="128016"/>
            </a:xfrm>
            <a:prstGeom prst="triangl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63" name="Shape 30"/>
            <p:cNvSpPr/>
            <p:nvPr/>
          </p:nvSpPr>
          <p:spPr>
            <a:xfrm>
              <a:off x="1798168" y="5632704"/>
              <a:ext cx="8595360" cy="329184"/>
            </a:xfrm>
            <a:prstGeom prst="rect">
              <a:avLst/>
            </a:prstGeom>
            <a:solidFill>
              <a:srgbClr val="E6F9EE"/>
            </a:solidFill>
            <a:ln w="15875">
              <a:solidFill>
                <a:srgbClr val="5ED8A0"/>
              </a:solidFill>
              <a:prstDash val="solid"/>
            </a:ln>
          </p:spPr>
        </p:sp>
        <p:sp>
          <p:nvSpPr>
            <p:cNvPr id="64" name="Text 31"/>
            <p:cNvSpPr/>
            <p:nvPr/>
          </p:nvSpPr>
          <p:spPr>
            <a:xfrm>
              <a:off x="1798168" y="5632704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7. React Dashboard Output</a:t>
              </a:r>
              <a:endParaRPr lang="en-US" sz="1600" dirty="0"/>
            </a:p>
          </p:txBody>
        </p:sp>
        <p:sp>
          <p:nvSpPr>
            <p:cNvPr id="65" name="Shape 32"/>
            <p:cNvSpPr/>
            <p:nvPr/>
          </p:nvSpPr>
          <p:spPr>
            <a:xfrm>
              <a:off x="1798168" y="5961888"/>
              <a:ext cx="8595360" cy="329184"/>
            </a:xfrm>
            <a:prstGeom prst="rect">
              <a:avLst/>
            </a:prstGeom>
            <a:solidFill>
              <a:srgbClr val="F2FCF6"/>
            </a:solidFill>
            <a:ln w="15875">
              <a:solidFill>
                <a:srgbClr val="5ED8A0"/>
              </a:solidFill>
              <a:prstDash val="solid"/>
            </a:ln>
          </p:spPr>
        </p:sp>
        <p:sp>
          <p:nvSpPr>
            <p:cNvPr id="66" name="Text 33"/>
            <p:cNvSpPr/>
            <p:nvPr/>
          </p:nvSpPr>
          <p:spPr>
            <a:xfrm>
              <a:off x="1798168" y="5961888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Display live charts, counters, and congestion status indicator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566284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B1F4D"/>
                </a:solidFill>
              </a:rPr>
              <a:t>Technologies &amp; Libraries We Used</a:t>
            </a:r>
          </a:p>
        </p:txBody>
      </p:sp>
      <p:sp>
        <p:nvSpPr>
          <p:cNvPr id="5" name="Shape 3"/>
          <p:cNvSpPr/>
          <p:nvPr/>
        </p:nvSpPr>
        <p:spPr>
          <a:xfrm>
            <a:off x="566928" y="1225296"/>
            <a:ext cx="11064240" cy="0"/>
          </a:xfrm>
          <a:prstGeom prst="line">
            <a:avLst/>
          </a:prstGeom>
          <a:noFill/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446520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Aptos"/>
              </a:rPr>
              <a:t>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29999" y="6248701"/>
            <a:ext cx="508715" cy="4721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/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64406"/>
            <a:ext cx="110642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b="1" dirty="0"/>
              <a:t>Python </a:t>
            </a:r>
            <a:r>
              <a:rPr lang="en-US" sz="1600" b="1" dirty="0"/>
              <a:t>3.13 </a:t>
            </a:r>
            <a:r>
              <a:rPr lang="en-US" sz="1600" b="1" dirty="0"/>
              <a:t>and </a:t>
            </a:r>
            <a:r>
              <a:rPr lang="en-US" sz="1600" b="1" dirty="0" err="1"/>
              <a:t>OpenCV</a:t>
            </a:r>
            <a:r>
              <a:rPr lang="en-US" b="1" dirty="0"/>
              <a:t>:</a:t>
            </a:r>
            <a:r>
              <a:rPr lang="en-US" dirty="0"/>
              <a:t> Used to read video frames, draw boxes on screen, and perform image math</a:t>
            </a:r>
            <a:r>
              <a:rPr lang="en-US" dirty="0" smtClean="0"/>
              <a:t>.</a:t>
            </a:r>
          </a:p>
          <a:p>
            <a:pPr marL="342900" indent="-342900">
              <a:buAutoNum type="arabicPeriod"/>
            </a:pPr>
            <a:endParaRPr lang="en-US" dirty="0" smtClean="0"/>
          </a:p>
          <a:p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sz="1600" b="1" dirty="0" err="1"/>
              <a:t>Ultralytics</a:t>
            </a:r>
            <a:r>
              <a:rPr lang="en-US" sz="1600" b="1" dirty="0"/>
              <a:t> YOLOv8:</a:t>
            </a:r>
            <a:r>
              <a:rPr lang="en-US" dirty="0"/>
              <a:t> Pre-trained deep learning model used to detect vehicle bounding boxes instantly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sz="1600" b="1" dirty="0"/>
              <a:t>3</a:t>
            </a:r>
            <a:r>
              <a:rPr lang="en-US" sz="1600" b="1" dirty="0"/>
              <a:t>. </a:t>
            </a:r>
            <a:r>
              <a:rPr lang="en-US" sz="1600" b="1" dirty="0" err="1"/>
              <a:t>ByteTrack</a:t>
            </a:r>
            <a:r>
              <a:rPr lang="en-US" sz="1600" b="1" dirty="0"/>
              <a:t> Algorithm: </a:t>
            </a:r>
            <a:r>
              <a:rPr lang="en-US" dirty="0"/>
              <a:t>Tracks vehicles frame by frame so the same car isn't counted multiple times. </a:t>
            </a:r>
            <a:endParaRPr lang="en-US" dirty="0" smtClean="0"/>
          </a:p>
          <a:p>
            <a:endParaRPr lang="en-US" dirty="0"/>
          </a:p>
          <a:p>
            <a:r>
              <a:rPr lang="en-US" sz="1600" b="1" dirty="0"/>
              <a:t>4</a:t>
            </a:r>
            <a:r>
              <a:rPr lang="en-US" sz="1600" b="1" dirty="0"/>
              <a:t>. Node.js &amp; Express API:</a:t>
            </a:r>
            <a:r>
              <a:rPr lang="en-US" dirty="0"/>
              <a:t> Web server created to handle data storage and serve REST API endpoints. </a:t>
            </a:r>
            <a:endParaRPr lang="en-US" dirty="0" smtClean="0"/>
          </a:p>
          <a:p>
            <a:endParaRPr lang="en-US" dirty="0"/>
          </a:p>
          <a:p>
            <a:r>
              <a:rPr lang="en-US" sz="1600" b="1" dirty="0"/>
              <a:t>5</a:t>
            </a:r>
            <a:r>
              <a:rPr lang="en-US" sz="1600" b="1" dirty="0"/>
              <a:t>. MongoDB: </a:t>
            </a:r>
            <a:r>
              <a:rPr lang="en-US" dirty="0"/>
              <a:t>Database used to store vehicle count logs, speed averages, and congestion reports. </a:t>
            </a:r>
            <a:endParaRPr lang="en-US" dirty="0" smtClean="0"/>
          </a:p>
          <a:p>
            <a:endParaRPr lang="en-US" dirty="0"/>
          </a:p>
          <a:p>
            <a:r>
              <a:rPr lang="en-US" sz="1600" b="1" dirty="0"/>
              <a:t>6</a:t>
            </a:r>
            <a:r>
              <a:rPr lang="en-US" sz="1600" b="1" dirty="0"/>
              <a:t>. React &amp; </a:t>
            </a:r>
            <a:r>
              <a:rPr lang="en-US" sz="1600" b="1" dirty="0" err="1"/>
              <a:t>Recharts</a:t>
            </a:r>
            <a:r>
              <a:rPr lang="en-US" sz="1600" b="1" dirty="0"/>
              <a:t>: </a:t>
            </a:r>
            <a:r>
              <a:rPr lang="en-US" dirty="0"/>
              <a:t>Used to build a clean web dashboard with charts, stats cards, and video control.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</a:rPr>
              <a:t>6. System Architecture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66928" y="1225296"/>
            <a:ext cx="11064240" cy="0"/>
          </a:xfrm>
          <a:prstGeom prst="line">
            <a:avLst/>
          </a:prstGeom>
          <a:noFill/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446520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Aptos"/>
              </a:rPr>
              <a:t>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999" y="6248701"/>
            <a:ext cx="508715" cy="4721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/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1720" y="5879273"/>
            <a:ext cx="530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Figure 6.1 </a:t>
            </a:r>
            <a:r>
              <a:rPr lang="en-US" b="1" dirty="0">
                <a:solidFill>
                  <a:schemeClr val="accent1"/>
                </a:solidFill>
              </a:rPr>
              <a:t>System Architecture Diagram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117018" y="1706711"/>
            <a:ext cx="10055500" cy="3657473"/>
            <a:chOff x="2542200" y="853334"/>
            <a:chExt cx="7421058" cy="3122978"/>
          </a:xfrm>
        </p:grpSpPr>
        <p:sp>
          <p:nvSpPr>
            <p:cNvPr id="14" name="Text 4"/>
            <p:cNvSpPr/>
            <p:nvPr/>
          </p:nvSpPr>
          <p:spPr>
            <a:xfrm>
              <a:off x="3582373" y="853334"/>
              <a:ext cx="5340709" cy="423482"/>
            </a:xfrm>
            <a:prstGeom prst="roundRect">
              <a:avLst>
                <a:gd name="adj" fmla="val 12041"/>
              </a:avLst>
            </a:prstGeom>
            <a:solidFill>
              <a:srgbClr val="EFF6FF"/>
            </a:solidFill>
            <a:ln w="19050">
              <a:solidFill>
                <a:srgbClr val="3B82F6"/>
              </a:solidFill>
            </a:ln>
          </p:spPr>
          <p:txBody>
            <a:bodyPr wrap="square" lIns="508" tIns="508" rIns="508" bIns="508" rtlCol="0" anchor="ctr"/>
            <a:lstStyle/>
            <a:p>
              <a:pPr algn="ctr"/>
              <a:r>
                <a:rPr lang="en-US" sz="1600" b="1" dirty="0">
                  <a:solidFill>
                    <a:srgbClr val="1E293B"/>
                  </a:solidFill>
                </a:rPr>
                <a:t>LAYER 1: INPUT &amp; VIDEO ACQUISITION LAYER</a:t>
              </a:r>
              <a:endParaRPr lang="en-US" sz="1600" dirty="0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733386" y="1313294"/>
              <a:ext cx="7038686" cy="783284"/>
              <a:chOff x="4431024" y="1615581"/>
              <a:chExt cx="3823621" cy="1002497"/>
            </a:xfrm>
          </p:grpSpPr>
          <p:sp>
            <p:nvSpPr>
              <p:cNvPr id="23" name="Text 4"/>
              <p:cNvSpPr/>
              <p:nvPr/>
            </p:nvSpPr>
            <p:spPr>
              <a:xfrm>
                <a:off x="4431024" y="2076078"/>
                <a:ext cx="3823621" cy="542000"/>
              </a:xfrm>
              <a:prstGeom prst="roundRect">
                <a:avLst>
                  <a:gd name="adj" fmla="val 12041"/>
                </a:avLst>
              </a:prstGeom>
              <a:solidFill>
                <a:srgbClr val="EFF6FF"/>
              </a:solidFill>
              <a:ln w="19050">
                <a:solidFill>
                  <a:srgbClr val="3B82F6"/>
                </a:solidFill>
              </a:ln>
            </p:spPr>
            <p:txBody>
              <a:bodyPr wrap="square" lIns="508" tIns="508" rIns="508" bIns="508" rtlCol="0" anchor="ctr"/>
              <a:lstStyle/>
              <a:p>
                <a:r>
                  <a:rPr lang="en-US" sz="1600" b="1" dirty="0">
                    <a:solidFill>
                      <a:srgbClr val="6B21A8"/>
                    </a:solidFill>
                  </a:rPr>
                  <a:t>LAYER 2: AI PERCEPTION &amp; COMPUTER VISION ENGINE (Python, </a:t>
                </a:r>
                <a:r>
                  <a:rPr lang="en-US" sz="1600" b="1" dirty="0" err="1">
                    <a:solidFill>
                      <a:srgbClr val="6B21A8"/>
                    </a:solidFill>
                  </a:rPr>
                  <a:t>PyTorch</a:t>
                </a:r>
                <a:r>
                  <a:rPr lang="en-US" sz="1600" b="1" dirty="0">
                    <a:solidFill>
                      <a:srgbClr val="6B21A8"/>
                    </a:solidFill>
                  </a:rPr>
                  <a:t>, YOLOv8)</a:t>
                </a:r>
                <a:endParaRPr lang="en-US" sz="1600" dirty="0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6262887" y="1615581"/>
                <a:ext cx="959237" cy="3545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b="1" dirty="0">
                    <a:solidFill>
                      <a:srgbClr val="3B82F6"/>
                    </a:solidFill>
                  </a:rPr>
                  <a:t>Raw Video Frames (RGB)</a:t>
                </a:r>
                <a:endParaRPr lang="en-US" sz="1200" dirty="0"/>
              </a:p>
            </p:txBody>
          </p:sp>
        </p:grpSp>
        <p:sp>
          <p:nvSpPr>
            <p:cNvPr id="16" name="Text 4"/>
            <p:cNvSpPr/>
            <p:nvPr/>
          </p:nvSpPr>
          <p:spPr>
            <a:xfrm>
              <a:off x="2589825" y="2587604"/>
              <a:ext cx="7325808" cy="423483"/>
            </a:xfrm>
            <a:prstGeom prst="roundRect">
              <a:avLst>
                <a:gd name="adj" fmla="val 12041"/>
              </a:avLst>
            </a:prstGeom>
            <a:solidFill>
              <a:srgbClr val="EFF6FF"/>
            </a:solidFill>
            <a:ln w="19050">
              <a:solidFill>
                <a:srgbClr val="3B82F6"/>
              </a:solidFill>
            </a:ln>
          </p:spPr>
          <p:txBody>
            <a:bodyPr wrap="square" lIns="508" tIns="508" rIns="508" bIns="508" rtlCol="0" anchor="ctr"/>
            <a:lstStyle/>
            <a:p>
              <a:r>
                <a:rPr lang="en-US" sz="1600" b="1" dirty="0">
                  <a:solidFill>
                    <a:srgbClr val="15803D"/>
                  </a:solidFill>
                </a:rPr>
                <a:t>LAYER 3: BACKEND SERVICE &amp; DATA PERSISTENCE LAYER (Node.js, Express, MongoDB)</a:t>
              </a:r>
              <a:endParaRPr lang="en-US" sz="1600" dirty="0"/>
            </a:p>
          </p:txBody>
        </p:sp>
        <p:sp>
          <p:nvSpPr>
            <p:cNvPr id="17" name="Text 4"/>
            <p:cNvSpPr/>
            <p:nvPr/>
          </p:nvSpPr>
          <p:spPr>
            <a:xfrm>
              <a:off x="2542200" y="3552829"/>
              <a:ext cx="7421058" cy="423483"/>
            </a:xfrm>
            <a:prstGeom prst="roundRect">
              <a:avLst>
                <a:gd name="adj" fmla="val 12041"/>
              </a:avLst>
            </a:prstGeom>
            <a:solidFill>
              <a:srgbClr val="EFF6FF"/>
            </a:solidFill>
            <a:ln w="19050">
              <a:solidFill>
                <a:srgbClr val="3B82F6"/>
              </a:solidFill>
            </a:ln>
          </p:spPr>
          <p:txBody>
            <a:bodyPr wrap="square" lIns="508" tIns="508" rIns="508" bIns="508" rtlCol="0" anchor="ctr"/>
            <a:lstStyle/>
            <a:p>
              <a:r>
                <a:rPr lang="en-US" sz="1600" b="1" dirty="0">
                  <a:solidFill>
                    <a:srgbClr val="1E40AF"/>
                  </a:solidFill>
                </a:rPr>
                <a:t>LAYER 4: PRESENTATION &amp; MONITORING DASHBOARD LAYER (React 18, </a:t>
              </a:r>
              <a:r>
                <a:rPr lang="en-US" sz="1600" b="1" dirty="0" err="1">
                  <a:solidFill>
                    <a:srgbClr val="1E40AF"/>
                  </a:solidFill>
                </a:rPr>
                <a:t>Vite</a:t>
              </a:r>
              <a:r>
                <a:rPr lang="en-US" sz="1600" b="1" dirty="0">
                  <a:solidFill>
                    <a:srgbClr val="1E40AF"/>
                  </a:solidFill>
                </a:rPr>
                <a:t>, </a:t>
              </a:r>
              <a:r>
                <a:rPr lang="en-US" sz="1600" b="1" dirty="0" err="1">
                  <a:solidFill>
                    <a:srgbClr val="1E40AF"/>
                  </a:solidFill>
                </a:rPr>
                <a:t>Recharts</a:t>
              </a:r>
              <a:r>
                <a:rPr lang="en-US" sz="1600" b="1" dirty="0">
                  <a:solidFill>
                    <a:srgbClr val="1E40AF"/>
                  </a:solidFill>
                </a:rPr>
                <a:t>)</a:t>
              </a:r>
              <a:endParaRPr lang="en-US" sz="1600" dirty="0"/>
            </a:p>
          </p:txBody>
        </p:sp>
        <p:sp>
          <p:nvSpPr>
            <p:cNvPr id="18" name="Shape 9"/>
            <p:cNvSpPr/>
            <p:nvPr/>
          </p:nvSpPr>
          <p:spPr>
            <a:xfrm>
              <a:off x="6105559" y="1281201"/>
              <a:ext cx="0" cy="356466"/>
            </a:xfrm>
            <a:prstGeom prst="line">
              <a:avLst/>
            </a:prstGeom>
            <a:noFill/>
            <a:ln w="22225">
              <a:solidFill>
                <a:srgbClr val="3B82F6"/>
              </a:solidFill>
              <a:prstDash val="solid"/>
              <a:tailEnd type="triangle"/>
            </a:ln>
          </p:spPr>
        </p:sp>
        <p:sp>
          <p:nvSpPr>
            <p:cNvPr id="19" name="Rectangle 18"/>
            <p:cNvSpPr/>
            <p:nvPr/>
          </p:nvSpPr>
          <p:spPr>
            <a:xfrm>
              <a:off x="6105558" y="2176045"/>
              <a:ext cx="27160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rgbClr val="7C3AED"/>
                  </a:solidFill>
                </a:rPr>
                <a:t>REST JSON Payload / </a:t>
              </a:r>
              <a:r>
                <a:rPr lang="en-US" sz="1200" b="1" dirty="0" err="1">
                  <a:solidFill>
                    <a:srgbClr val="7C3AED"/>
                  </a:solidFill>
                </a:rPr>
                <a:t>Webhook</a:t>
              </a:r>
              <a:r>
                <a:rPr lang="en-US" sz="1200" b="1" dirty="0">
                  <a:solidFill>
                    <a:srgbClr val="7C3AED"/>
                  </a:solidFill>
                </a:rPr>
                <a:t> Callback</a:t>
              </a:r>
              <a:endParaRPr lang="en-US" sz="1200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105558" y="3110098"/>
              <a:ext cx="225228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rgbClr val="15803D"/>
                  </a:solidFill>
                </a:rPr>
                <a:t>HTTP REST API / JSON Telemetry</a:t>
              </a:r>
              <a:endParaRPr lang="en-US" sz="1200" dirty="0"/>
            </a:p>
          </p:txBody>
        </p:sp>
        <p:sp>
          <p:nvSpPr>
            <p:cNvPr id="21" name="Shape 9"/>
            <p:cNvSpPr/>
            <p:nvPr/>
          </p:nvSpPr>
          <p:spPr>
            <a:xfrm>
              <a:off x="6105559" y="2096578"/>
              <a:ext cx="0" cy="356466"/>
            </a:xfrm>
            <a:prstGeom prst="line">
              <a:avLst/>
            </a:prstGeom>
            <a:noFill/>
            <a:ln w="22225">
              <a:solidFill>
                <a:srgbClr val="3B82F6"/>
              </a:solidFill>
              <a:prstDash val="solid"/>
              <a:tailEnd type="triangle"/>
            </a:ln>
          </p:spPr>
        </p:sp>
        <p:sp>
          <p:nvSpPr>
            <p:cNvPr id="22" name="Shape 9"/>
            <p:cNvSpPr/>
            <p:nvPr/>
          </p:nvSpPr>
          <p:spPr>
            <a:xfrm>
              <a:off x="6105559" y="3011087"/>
              <a:ext cx="0" cy="356466"/>
            </a:xfrm>
            <a:prstGeom prst="line">
              <a:avLst/>
            </a:prstGeom>
            <a:noFill/>
            <a:ln w="22225">
              <a:solidFill>
                <a:srgbClr val="3B82F6"/>
              </a:solidFill>
              <a:prstDash val="solid"/>
              <a:tailEnd type="triangle"/>
            </a:ln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LAYER 1: INPUT &amp; VIDEO ACQUISITION LAYER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EFF6FF"/>
          </a:solidFill>
          <a:ln w="22225">
            <a:solidFill>
              <a:srgbClr val="3B82F6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40AF"/>
                </a:solidFill>
              </a:rPr>
              <a:t>Traffic Video Ingestion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Recorded CCTV (.mp4, .avi, .mov)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Synthetic Traffic Generator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Future: RTSP / IP Camera Feeds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98848" y="214884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ECFEFF"/>
          </a:solidFill>
          <a:ln w="22225">
            <a:solidFill>
              <a:srgbClr val="06B6D4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E7490"/>
                </a:solidFill>
              </a:rPr>
              <a:t>OpenCV Preprocessing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30 FPS Frame Extraction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Frame Resize &amp; Normalization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Polygonal ROI Spatial Masking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74152" y="214884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F1F5F9"/>
          </a:solidFill>
          <a:ln w="22225">
            <a:solidFill>
              <a:srgbClr val="94A3B8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334155"/>
                </a:solidFill>
              </a:rPr>
              <a:t>Camera &amp; Road Config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Road IDs &amp; Lane Geometry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Camera Resolution &amp; FPS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Virtual Line Coordinates (P1, P2)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800" y="3291840"/>
            <a:ext cx="384048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99248" y="3291840"/>
            <a:ext cx="374904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6096305" y="5212080"/>
            <a:ext cx="0" cy="82296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626364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Raw Video Frames (RGB)  →  to Layer 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54256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21A8"/>
                </a:solidFill>
              </a:rPr>
              <a:t>LAYER 2: AI PERCEPTION &amp; COMPUTER VISION ENGINE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43434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8575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2377440" cy="2240280"/>
          </a:xfrm>
          <a:prstGeom prst="roundRect">
            <a:avLst>
              <a:gd name="adj" fmla="val 4898"/>
            </a:avLst>
          </a:prstGeom>
          <a:solidFill>
            <a:srgbClr val="FAF5FF"/>
          </a:solidFill>
          <a:ln w="22225">
            <a:solidFill>
              <a:srgbClr val="A855F7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B21A8"/>
                </a:solidFill>
              </a:rPr>
              <a:t>YOLOv8 Detection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Deep Learning Model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Car, Motorbike, Bus, Truck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Bounding Box Inference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Confidence Thresholding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14344" y="1691640"/>
            <a:ext cx="2377440" cy="2240280"/>
          </a:xfrm>
          <a:prstGeom prst="roundRect">
            <a:avLst>
              <a:gd name="adj" fmla="val 4898"/>
            </a:avLst>
          </a:prstGeom>
          <a:solidFill>
            <a:srgbClr val="FAF5FF"/>
          </a:solidFill>
          <a:ln w="22225">
            <a:solidFill>
              <a:srgbClr val="A855F7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B21A8"/>
                </a:solidFill>
              </a:rPr>
              <a:t>ByteTrack Tracking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Multi-Object Association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Kalman Filter Prediction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Hungarian Track Matching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Unique Track ID Assignment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97168" y="1691640"/>
            <a:ext cx="2377440" cy="2240280"/>
          </a:xfrm>
          <a:prstGeom prst="roundRect">
            <a:avLst>
              <a:gd name="adj" fmla="val 4898"/>
            </a:avLst>
          </a:prstGeom>
          <a:solidFill>
            <a:srgbClr val="FAF5FF"/>
          </a:solidFill>
          <a:ln w="22225">
            <a:solidFill>
              <a:srgbClr val="A855F7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B21A8"/>
                </a:solidFill>
              </a:rPr>
              <a:t>Line Crossing Engine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Virtual Line Intersection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2D Vector Cross Product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Direction A vs B Classify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Duplicate-Proof Counting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79992" y="1691640"/>
            <a:ext cx="2377440" cy="2240280"/>
          </a:xfrm>
          <a:prstGeom prst="roundRect">
            <a:avLst>
              <a:gd name="adj" fmla="val 4898"/>
            </a:avLst>
          </a:prstGeom>
          <a:solidFill>
            <a:srgbClr val="FAF5FF"/>
          </a:solidFill>
          <a:ln w="22225">
            <a:solidFill>
              <a:srgbClr val="A855F7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B21A8"/>
                </a:solidFill>
              </a:rPr>
              <a:t>Speed &amp; Congestion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2-Point Calibrated Speed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Velocity in km/h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ROI Occupancy Density %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Congestion State Rules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08960" y="2811780"/>
            <a:ext cx="405384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91784" y="2811780"/>
            <a:ext cx="405384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674608" y="2811780"/>
            <a:ext cx="405384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400044" y="438912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AF5FF"/>
          </a:solidFill>
          <a:ln w="22225">
            <a:solidFill>
              <a:srgbClr val="C084FC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581C87"/>
                </a:solidFill>
              </a:rPr>
              <a:t>Annotated Video Generator (OpenCV VideoWriter)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Draws bounding boxes, track IDs, speed HUD &amp; virtual tripwire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2868" y="438912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AF5FF"/>
          </a:solidFill>
          <a:ln w="22225">
            <a:solidFill>
              <a:srgbClr val="C084FC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581C87"/>
                </a:solidFill>
              </a:rPr>
              <a:t>Structured Telemetry &amp; Summary Generator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Produces structured JSON logs &amp; frame-by-frame statistics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3064" y="3931920"/>
            <a:ext cx="0" cy="45720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85888" y="3931920"/>
            <a:ext cx="0" cy="45720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85888" y="5715000"/>
            <a:ext cx="0" cy="64008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7668768" y="6035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REST JSON Payload / Webhook Callback  →  to Layer 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30328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803D"/>
                </a:solidFill>
              </a:rPr>
              <a:t>LAYER 3: BACKEND SERVICE &amp; DATA PERSISTENCE LAYER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8575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F0FDF4"/>
          </a:solidFill>
          <a:ln w="22225">
            <a:solidFill>
              <a:srgbClr val="22C55E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5803D"/>
                </a:solidFill>
              </a:rPr>
              <a:t>Express REST API Server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/api/analysis/start &amp; /upload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/api/traffic/readings &amp; /latest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/api/roads &amp; /api/cameras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98848" y="214884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F0FDF4"/>
          </a:solidFill>
          <a:ln w="22225">
            <a:solidFill>
              <a:srgbClr val="22C55E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5803D"/>
                </a:solidFill>
              </a:rPr>
              <a:t>Job Queue &amp; AI Bridge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Asynchronous Job Tracking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ChildProcess CLI / FastAPI HTTP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Real-Time Progress Streamer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74152" y="214884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F0FDF4"/>
          </a:solidFill>
          <a:ln w="22225">
            <a:solidFill>
              <a:srgbClr val="22C55E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5803D"/>
                </a:solidFill>
              </a:rPr>
              <a:t>Database Storage (Mongoose)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Primary: MongoDB Atlas / Local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Models: Road, Camera, Reading, Job</a:t>
            </a:r>
            <a:endParaRPr lang="en-US" sz="17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Auto In-Memory Safety Fallback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800" y="3291840"/>
            <a:ext cx="384048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99248" y="3291840"/>
            <a:ext cx="374904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14600" y="5212080"/>
            <a:ext cx="0" cy="822960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69748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</a:rPr>
              <a:t>HTTP REST API / JSON Telemetry  →  to Layer 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26327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6518" y="320040"/>
            <a:ext cx="11227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LAYER 4: PRESENTATION &amp; MONITORING DASHBOARD LAYER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8575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EFF6FF"/>
          </a:solidFill>
          <a:ln w="22225">
            <a:solidFill>
              <a:srgbClr val="3B82F6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40AF"/>
                </a:solidFill>
              </a:rPr>
              <a:t>Real-Time KPI Cards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7"/>
                </a:solidFill>
              </a:rPr>
              <a:t>Total Counts, Speed (km/h),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7"/>
                </a:solidFill>
              </a:rPr>
              <a:t>Flow Rate &amp; Congestion Status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14344" y="21488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EFF6FF"/>
          </a:solidFill>
          <a:ln w="22225">
            <a:solidFill>
              <a:srgbClr val="3B82F6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40AF"/>
                </a:solidFill>
              </a:rPr>
              <a:t>Recharts Analytics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7"/>
                </a:solidFill>
              </a:rPr>
              <a:t>Time-Series Flow Curves &amp;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7"/>
                </a:solidFill>
              </a:rPr>
              <a:t>Vehicle Breakdown Bar Charts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97168" y="21488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EFF6FF"/>
          </a:solidFill>
          <a:ln w="22225">
            <a:solidFill>
              <a:srgbClr val="3B82F6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40AF"/>
                </a:solidFill>
              </a:rPr>
              <a:t>Annotated Video Player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7"/>
                </a:solidFill>
              </a:rPr>
              <a:t>Real-Time Tracking Overlays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7"/>
                </a:solidFill>
              </a:rPr>
              <a:t>&amp; Download Processed MP4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79992" y="21488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EFF6FF"/>
          </a:solidFill>
          <a:ln w="22225">
            <a:solidFill>
              <a:srgbClr val="3B82F6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40AF"/>
                </a:solidFill>
              </a:rPr>
              <a:t>Audit Logs &amp; Registry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7"/>
                </a:solidFill>
              </a:rPr>
              <a:t>Corridor Infrastructure Mgmt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7"/>
                </a:solidFill>
              </a:rPr>
              <a:t>&amp; Historical Execution Logs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10249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B1F4D"/>
                </a:solidFill>
              </a:rPr>
              <a:t>Figure 1.1</a:t>
            </a:r>
            <a:r>
              <a:rPr lang="en-US" sz="3000" b="1" dirty="0">
                <a:solidFill>
                  <a:srgbClr val="0B1F4D"/>
                </a:solidFill>
              </a:rPr>
              <a:t>: </a:t>
            </a:r>
            <a:r>
              <a:rPr lang="en-US" sz="3000" b="1" dirty="0">
                <a:solidFill>
                  <a:srgbClr val="0B1F4D"/>
                </a:solidFill>
              </a:rPr>
              <a:t>System </a:t>
            </a:r>
            <a:r>
              <a:rPr lang="en-US" sz="3000" b="1" dirty="0">
                <a:solidFill>
                  <a:srgbClr val="0B1F4D"/>
                </a:solidFill>
              </a:rPr>
              <a:t>Workflow</a:t>
            </a:r>
            <a:endParaRPr lang="en-US" sz="3000" b="1" dirty="0">
              <a:solidFill>
                <a:srgbClr val="0B1F4D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225296"/>
            <a:ext cx="11064240" cy="0"/>
          </a:xfrm>
          <a:prstGeom prst="line">
            <a:avLst/>
          </a:prstGeom>
          <a:noFill/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446520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Aptos"/>
              </a:rPr>
              <a:t>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999" y="6248701"/>
            <a:ext cx="508715" cy="4721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/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1720" y="6141592"/>
            <a:ext cx="530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B1F4D"/>
                </a:solidFill>
              </a:rPr>
              <a:t>Figure 1.1: System Workflow</a:t>
            </a:r>
            <a:endParaRPr lang="en-US" dirty="0"/>
          </a:p>
        </p:txBody>
      </p:sp>
      <p:grpSp>
        <p:nvGrpSpPr>
          <p:cNvPr id="184" name="Group 183"/>
          <p:cNvGrpSpPr/>
          <p:nvPr/>
        </p:nvGrpSpPr>
        <p:grpSpPr>
          <a:xfrm>
            <a:off x="2832785" y="1406013"/>
            <a:ext cx="6332966" cy="4297182"/>
            <a:chOff x="1798168" y="365760"/>
            <a:chExt cx="8595360" cy="5925312"/>
          </a:xfrm>
        </p:grpSpPr>
        <p:sp>
          <p:nvSpPr>
            <p:cNvPr id="185" name="Shape 0"/>
            <p:cNvSpPr/>
            <p:nvPr/>
          </p:nvSpPr>
          <p:spPr>
            <a:xfrm>
              <a:off x="1798168" y="365760"/>
              <a:ext cx="8595360" cy="329184"/>
            </a:xfrm>
            <a:prstGeom prst="rect">
              <a:avLst/>
            </a:prstGeom>
            <a:solidFill>
              <a:srgbClr val="EAF2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186" name="Text 1"/>
            <p:cNvSpPr/>
            <p:nvPr/>
          </p:nvSpPr>
          <p:spPr>
            <a:xfrm>
              <a:off x="1798168" y="365760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1. CCTV Video Input</a:t>
              </a:r>
              <a:endParaRPr lang="en-US" sz="1600" dirty="0"/>
            </a:p>
          </p:txBody>
        </p:sp>
        <p:sp>
          <p:nvSpPr>
            <p:cNvPr id="187" name="Shape 2"/>
            <p:cNvSpPr/>
            <p:nvPr/>
          </p:nvSpPr>
          <p:spPr>
            <a:xfrm>
              <a:off x="1798168" y="694944"/>
              <a:ext cx="8595360" cy="329184"/>
            </a:xfrm>
            <a:prstGeom prst="rect">
              <a:avLst/>
            </a:prstGeom>
            <a:solidFill>
              <a:srgbClr val="F3F7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188" name="Text 3"/>
            <p:cNvSpPr/>
            <p:nvPr/>
          </p:nvSpPr>
          <p:spPr>
            <a:xfrm>
              <a:off x="1798168" y="694944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Recorded .mp4 road traffic video file</a:t>
              </a:r>
              <a:endParaRPr lang="en-US" sz="1400" dirty="0"/>
            </a:p>
          </p:txBody>
        </p:sp>
        <p:sp>
          <p:nvSpPr>
            <p:cNvPr id="189" name="Shape 4"/>
            <p:cNvSpPr/>
            <p:nvPr/>
          </p:nvSpPr>
          <p:spPr>
            <a:xfrm rot="10800000">
              <a:off x="5967832" y="1069848"/>
              <a:ext cx="256032" cy="128016"/>
            </a:xfrm>
            <a:prstGeom prst="triangl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190" name="Shape 5"/>
            <p:cNvSpPr/>
            <p:nvPr/>
          </p:nvSpPr>
          <p:spPr>
            <a:xfrm>
              <a:off x="1798168" y="1243584"/>
              <a:ext cx="8595360" cy="329184"/>
            </a:xfrm>
            <a:prstGeom prst="rect">
              <a:avLst/>
            </a:prstGeom>
            <a:solidFill>
              <a:srgbClr val="EAF2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191" name="Text 6"/>
            <p:cNvSpPr/>
            <p:nvPr/>
          </p:nvSpPr>
          <p:spPr>
            <a:xfrm>
              <a:off x="1798168" y="1243584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2. OpenCV Frame Extraction &amp; Preprocessing</a:t>
              </a:r>
              <a:endParaRPr lang="en-US" sz="1600" dirty="0"/>
            </a:p>
          </p:txBody>
        </p:sp>
        <p:sp>
          <p:nvSpPr>
            <p:cNvPr id="192" name="Shape 7"/>
            <p:cNvSpPr/>
            <p:nvPr/>
          </p:nvSpPr>
          <p:spPr>
            <a:xfrm>
              <a:off x="1798168" y="1572768"/>
              <a:ext cx="8595360" cy="329184"/>
            </a:xfrm>
            <a:prstGeom prst="rect">
              <a:avLst/>
            </a:prstGeom>
            <a:solidFill>
              <a:srgbClr val="F3F7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193" name="Text 8"/>
            <p:cNvSpPr/>
            <p:nvPr/>
          </p:nvSpPr>
          <p:spPr>
            <a:xfrm>
              <a:off x="1798168" y="1572768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Read frames at 30 FPS, resize &amp; crop Region of Interest (ROI)</a:t>
              </a:r>
              <a:endParaRPr lang="en-US" sz="1400" dirty="0"/>
            </a:p>
          </p:txBody>
        </p:sp>
        <p:sp>
          <p:nvSpPr>
            <p:cNvPr id="194" name="Shape 9"/>
            <p:cNvSpPr/>
            <p:nvPr/>
          </p:nvSpPr>
          <p:spPr>
            <a:xfrm rot="10800000">
              <a:off x="5967832" y="1947672"/>
              <a:ext cx="256032" cy="128016"/>
            </a:xfrm>
            <a:prstGeom prst="triangl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195" name="Shape 10"/>
            <p:cNvSpPr/>
            <p:nvPr/>
          </p:nvSpPr>
          <p:spPr>
            <a:xfrm>
              <a:off x="1798168" y="2121408"/>
              <a:ext cx="8595360" cy="329184"/>
            </a:xfrm>
            <a:prstGeom prst="rect">
              <a:avLst/>
            </a:prstGeom>
            <a:solidFill>
              <a:srgbClr val="EAF2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196" name="Text 11"/>
            <p:cNvSpPr/>
            <p:nvPr/>
          </p:nvSpPr>
          <p:spPr>
            <a:xfrm>
              <a:off x="1798168" y="2121408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3. YOLOv8 Vehicle Detection Engine</a:t>
              </a:r>
              <a:endParaRPr lang="en-US" sz="1600" dirty="0"/>
            </a:p>
          </p:txBody>
        </p:sp>
        <p:sp>
          <p:nvSpPr>
            <p:cNvPr id="197" name="Shape 12"/>
            <p:cNvSpPr/>
            <p:nvPr/>
          </p:nvSpPr>
          <p:spPr>
            <a:xfrm>
              <a:off x="1798168" y="2450592"/>
              <a:ext cx="8595360" cy="329184"/>
            </a:xfrm>
            <a:prstGeom prst="rect">
              <a:avLst/>
            </a:prstGeom>
            <a:solidFill>
              <a:srgbClr val="F3F7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198" name="Text 13"/>
            <p:cNvSpPr/>
            <p:nvPr/>
          </p:nvSpPr>
          <p:spPr>
            <a:xfrm>
              <a:off x="1798168" y="2450592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Locate Cars, Bikes, Buses &amp; Trucks with Bounding Boxes</a:t>
              </a:r>
              <a:endParaRPr lang="en-US" sz="1400" dirty="0"/>
            </a:p>
          </p:txBody>
        </p:sp>
        <p:sp>
          <p:nvSpPr>
            <p:cNvPr id="199" name="Shape 14"/>
            <p:cNvSpPr/>
            <p:nvPr/>
          </p:nvSpPr>
          <p:spPr>
            <a:xfrm rot="10800000">
              <a:off x="5967832" y="2825496"/>
              <a:ext cx="256032" cy="128016"/>
            </a:xfrm>
            <a:prstGeom prst="triangl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200" name="Shape 15"/>
            <p:cNvSpPr/>
            <p:nvPr/>
          </p:nvSpPr>
          <p:spPr>
            <a:xfrm>
              <a:off x="1798168" y="2999232"/>
              <a:ext cx="8595360" cy="329184"/>
            </a:xfrm>
            <a:prstGeom prst="rect">
              <a:avLst/>
            </a:prstGeom>
            <a:solidFill>
              <a:srgbClr val="EAF2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201" name="Text 16"/>
            <p:cNvSpPr/>
            <p:nvPr/>
          </p:nvSpPr>
          <p:spPr>
            <a:xfrm>
              <a:off x="1798168" y="2999232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4. ByteTrack Multi-Object Tracking</a:t>
              </a:r>
              <a:endParaRPr lang="en-US" sz="1600" dirty="0"/>
            </a:p>
          </p:txBody>
        </p:sp>
        <p:sp>
          <p:nvSpPr>
            <p:cNvPr id="202" name="Shape 17"/>
            <p:cNvSpPr/>
            <p:nvPr/>
          </p:nvSpPr>
          <p:spPr>
            <a:xfrm>
              <a:off x="1798168" y="3328416"/>
              <a:ext cx="8595360" cy="329184"/>
            </a:xfrm>
            <a:prstGeom prst="rect">
              <a:avLst/>
            </a:prstGeom>
            <a:solidFill>
              <a:srgbClr val="F3F7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203" name="Text 18"/>
            <p:cNvSpPr/>
            <p:nvPr/>
          </p:nvSpPr>
          <p:spPr>
            <a:xfrm>
              <a:off x="1798168" y="3328416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Assign persistent ID to each vehicle across consecutive frames</a:t>
              </a:r>
              <a:endParaRPr lang="en-US" sz="1400" dirty="0"/>
            </a:p>
          </p:txBody>
        </p:sp>
        <p:sp>
          <p:nvSpPr>
            <p:cNvPr id="204" name="Shape 19"/>
            <p:cNvSpPr/>
            <p:nvPr/>
          </p:nvSpPr>
          <p:spPr>
            <a:xfrm rot="10800000">
              <a:off x="5967832" y="3703320"/>
              <a:ext cx="256032" cy="128016"/>
            </a:xfrm>
            <a:prstGeom prst="triangl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205" name="Shape 20"/>
            <p:cNvSpPr/>
            <p:nvPr/>
          </p:nvSpPr>
          <p:spPr>
            <a:xfrm>
              <a:off x="1798168" y="3877056"/>
              <a:ext cx="8595360" cy="329184"/>
            </a:xfrm>
            <a:prstGeom prst="rect">
              <a:avLst/>
            </a:prstGeom>
            <a:solidFill>
              <a:srgbClr val="EAF2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206" name="Text 21"/>
            <p:cNvSpPr/>
            <p:nvPr/>
          </p:nvSpPr>
          <p:spPr>
            <a:xfrm>
              <a:off x="1798168" y="3877056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5. Speed &amp; Line Crossing Calculation</a:t>
              </a:r>
              <a:endParaRPr lang="en-US" sz="1600" dirty="0"/>
            </a:p>
          </p:txBody>
        </p:sp>
        <p:sp>
          <p:nvSpPr>
            <p:cNvPr id="207" name="Shape 22"/>
            <p:cNvSpPr/>
            <p:nvPr/>
          </p:nvSpPr>
          <p:spPr>
            <a:xfrm>
              <a:off x="1798168" y="4206240"/>
              <a:ext cx="8595360" cy="329184"/>
            </a:xfrm>
            <a:prstGeom prst="rect">
              <a:avLst/>
            </a:prstGeom>
            <a:solidFill>
              <a:srgbClr val="F3F7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208" name="Text 23"/>
            <p:cNvSpPr/>
            <p:nvPr/>
          </p:nvSpPr>
          <p:spPr>
            <a:xfrm>
              <a:off x="1798168" y="4206240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Virtual line crossing count + 2-point pixel-to-meter speed (km/h)</a:t>
              </a:r>
              <a:endParaRPr lang="en-US" sz="1400" dirty="0"/>
            </a:p>
          </p:txBody>
        </p:sp>
        <p:sp>
          <p:nvSpPr>
            <p:cNvPr id="209" name="Shape 24"/>
            <p:cNvSpPr/>
            <p:nvPr/>
          </p:nvSpPr>
          <p:spPr>
            <a:xfrm rot="10800000">
              <a:off x="5967832" y="4581144"/>
              <a:ext cx="256032" cy="128016"/>
            </a:xfrm>
            <a:prstGeom prst="triangl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210" name="Shape 25"/>
            <p:cNvSpPr/>
            <p:nvPr/>
          </p:nvSpPr>
          <p:spPr>
            <a:xfrm>
              <a:off x="1798168" y="4754880"/>
              <a:ext cx="8595360" cy="329184"/>
            </a:xfrm>
            <a:prstGeom prst="rect">
              <a:avLst/>
            </a:prstGeom>
            <a:solidFill>
              <a:srgbClr val="EAF2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211" name="Text 26"/>
            <p:cNvSpPr/>
            <p:nvPr/>
          </p:nvSpPr>
          <p:spPr>
            <a:xfrm>
              <a:off x="1798168" y="4754880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6. Express REST API &amp; MongoDB Storage</a:t>
              </a:r>
              <a:endParaRPr lang="en-US" sz="1600" dirty="0"/>
            </a:p>
          </p:txBody>
        </p:sp>
        <p:sp>
          <p:nvSpPr>
            <p:cNvPr id="212" name="Shape 27"/>
            <p:cNvSpPr/>
            <p:nvPr/>
          </p:nvSpPr>
          <p:spPr>
            <a:xfrm>
              <a:off x="1798168" y="5084064"/>
              <a:ext cx="8595360" cy="329184"/>
            </a:xfrm>
            <a:prstGeom prst="rect">
              <a:avLst/>
            </a:prstGeom>
            <a:solidFill>
              <a:srgbClr val="F3F7FF"/>
            </a:solidFill>
            <a:ln w="15875">
              <a:solidFill>
                <a:srgbClr val="8DB4F0"/>
              </a:solidFill>
              <a:prstDash val="solid"/>
            </a:ln>
          </p:spPr>
        </p:sp>
        <p:sp>
          <p:nvSpPr>
            <p:cNvPr id="213" name="Text 28"/>
            <p:cNvSpPr/>
            <p:nvPr/>
          </p:nvSpPr>
          <p:spPr>
            <a:xfrm>
              <a:off x="1798168" y="5084064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Save traffic metrics (count, avg speed, density, congestion level)</a:t>
              </a:r>
              <a:endParaRPr lang="en-US" sz="1400" dirty="0"/>
            </a:p>
          </p:txBody>
        </p:sp>
        <p:sp>
          <p:nvSpPr>
            <p:cNvPr id="214" name="Shape 29"/>
            <p:cNvSpPr/>
            <p:nvPr/>
          </p:nvSpPr>
          <p:spPr>
            <a:xfrm rot="10800000">
              <a:off x="5967832" y="5458968"/>
              <a:ext cx="256032" cy="128016"/>
            </a:xfrm>
            <a:prstGeom prst="triangl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215" name="Shape 30"/>
            <p:cNvSpPr/>
            <p:nvPr/>
          </p:nvSpPr>
          <p:spPr>
            <a:xfrm>
              <a:off x="1798168" y="5632704"/>
              <a:ext cx="8595360" cy="329184"/>
            </a:xfrm>
            <a:prstGeom prst="rect">
              <a:avLst/>
            </a:prstGeom>
            <a:solidFill>
              <a:srgbClr val="E6F9EE"/>
            </a:solidFill>
            <a:ln w="15875">
              <a:solidFill>
                <a:srgbClr val="5ED8A0"/>
              </a:solidFill>
              <a:prstDash val="solid"/>
            </a:ln>
          </p:spPr>
        </p:sp>
        <p:sp>
          <p:nvSpPr>
            <p:cNvPr id="216" name="Text 31"/>
            <p:cNvSpPr/>
            <p:nvPr/>
          </p:nvSpPr>
          <p:spPr>
            <a:xfrm>
              <a:off x="1798168" y="5632704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7. React Dashboard Output</a:t>
              </a:r>
              <a:endParaRPr lang="en-US" sz="1600" dirty="0"/>
            </a:p>
          </p:txBody>
        </p:sp>
        <p:sp>
          <p:nvSpPr>
            <p:cNvPr id="217" name="Shape 32"/>
            <p:cNvSpPr/>
            <p:nvPr/>
          </p:nvSpPr>
          <p:spPr>
            <a:xfrm>
              <a:off x="1798168" y="5961888"/>
              <a:ext cx="8595360" cy="329184"/>
            </a:xfrm>
            <a:prstGeom prst="rect">
              <a:avLst/>
            </a:prstGeom>
            <a:solidFill>
              <a:srgbClr val="F2FCF6"/>
            </a:solidFill>
            <a:ln w="15875">
              <a:solidFill>
                <a:srgbClr val="5ED8A0"/>
              </a:solidFill>
              <a:prstDash val="solid"/>
            </a:ln>
          </p:spPr>
        </p:sp>
        <p:sp>
          <p:nvSpPr>
            <p:cNvPr id="218" name="Text 33"/>
            <p:cNvSpPr/>
            <p:nvPr/>
          </p:nvSpPr>
          <p:spPr>
            <a:xfrm>
              <a:off x="1798168" y="5961888"/>
              <a:ext cx="8595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</a:rPr>
                <a:t>Display live charts, counters, and congestion status indicator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B1F4D"/>
                </a:solidFill>
              </a:rPr>
              <a:t>Project Folder Structure Overview</a:t>
            </a:r>
          </a:p>
        </p:txBody>
      </p:sp>
      <p:sp>
        <p:nvSpPr>
          <p:cNvPr id="5" name="Shape 3"/>
          <p:cNvSpPr/>
          <p:nvPr/>
        </p:nvSpPr>
        <p:spPr>
          <a:xfrm>
            <a:off x="566928" y="1225296"/>
            <a:ext cx="11064240" cy="0"/>
          </a:xfrm>
          <a:prstGeom prst="line">
            <a:avLst/>
          </a:prstGeom>
          <a:noFill/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6446520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Aptos"/>
              </a:rPr>
              <a:t>May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29999" y="6248701"/>
            <a:ext cx="508715" cy="4721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/>
              <a:t>9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711648"/>
              </p:ext>
            </p:extLst>
          </p:nvPr>
        </p:nvGraphicFramePr>
        <p:xfrm>
          <a:off x="835145" y="1877644"/>
          <a:ext cx="10521404" cy="3718710"/>
        </p:xfrm>
        <a:graphic>
          <a:graphicData uri="http://schemas.openxmlformats.org/drawingml/2006/table">
            <a:tbl>
              <a:tblPr/>
              <a:tblGrid>
                <a:gridCol w="2316639"/>
                <a:gridCol w="8204765"/>
              </a:tblGrid>
              <a:tr h="619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Folder Name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What It Contains in Simple Words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619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ai-engine/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Python scripts for YOLOv8 detection, ByteTrack tracking, counting &amp; speed math.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backend/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Express API code, Mongoose MongoDB schemas, and job handling routes.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frontend/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React components, dashboard pages, CSS styling, and Recharts graph modules.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data/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Input sample traffic videos and generated output results/logs.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docs/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Architecture documentation, API guide, and setup instructions.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</a:rPr>
              <a:t>8. User Flow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6B7A"/>
                </a:solidFill>
              </a:rPr>
              <a:t>Complete customer journey on ElectroShop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66928" y="1225296"/>
            <a:ext cx="11064240" cy="0"/>
          </a:xfrm>
          <a:prstGeom prst="line">
            <a:avLst/>
          </a:prstGeom>
          <a:noFill/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446520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Aptos"/>
              </a:rPr>
              <a:t>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999" y="6248701"/>
            <a:ext cx="508715" cy="4721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/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6371" y="6141592"/>
            <a:ext cx="530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Figure 8.1 User Flow Diagram</a:t>
            </a:r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48640" y="2151824"/>
            <a:ext cx="10865815" cy="3063240"/>
            <a:chOff x="548640" y="2194560"/>
            <a:chExt cx="11094415" cy="3291840"/>
          </a:xfrm>
        </p:grpSpPr>
        <p:sp>
          <p:nvSpPr>
            <p:cNvPr id="15" name="Step 1 Card"/>
            <p:cNvSpPr/>
            <p:nvPr/>
          </p:nvSpPr>
          <p:spPr>
            <a:xfrm>
              <a:off x="548640" y="2194560"/>
              <a:ext cx="2514600" cy="3291840"/>
            </a:xfrm>
            <a:prstGeom prst="roundRect">
              <a:avLst>
                <a:gd name="adj" fmla="val 4364"/>
              </a:avLst>
            </a:prstGeom>
            <a:solidFill>
              <a:srgbClr val="FFFFFF"/>
            </a:solidFill>
            <a:ln w="12700">
              <a:solidFill>
                <a:srgbClr val="D5DFEB"/>
              </a:solidFill>
              <a:prstDash val="solid"/>
            </a:ln>
            <a:effectLst>
              <a:outerShdw blurRad="101600" dist="25400" dir="5400000" algn="bl" rotWithShape="0">
                <a:srgbClr val="1F3A5F">
                  <a:alpha val="12000"/>
                </a:srgbClr>
              </a:outerShdw>
            </a:effectLst>
          </p:spPr>
        </p:sp>
        <p:sp>
          <p:nvSpPr>
            <p:cNvPr id="16" name="Step 1 Badge"/>
            <p:cNvSpPr/>
            <p:nvPr/>
          </p:nvSpPr>
          <p:spPr>
            <a:xfrm>
              <a:off x="777240" y="2423160"/>
              <a:ext cx="502920" cy="502920"/>
            </a:xfrm>
            <a:prstGeom prst="ellipse">
              <a:avLst/>
            </a:prstGeom>
            <a:solidFill>
              <a:srgbClr val="12355B"/>
            </a:solidFill>
            <a:ln w="12700">
              <a:solidFill>
                <a:srgbClr val="12355B"/>
              </a:solidFill>
              <a:prstDash val="solid"/>
            </a:ln>
          </p:spPr>
        </p:sp>
        <p:sp>
          <p:nvSpPr>
            <p:cNvPr id="17" name="Step 1 Number"/>
            <p:cNvSpPr txBox="1"/>
            <p:nvPr/>
          </p:nvSpPr>
          <p:spPr>
            <a:xfrm>
              <a:off x="777240" y="242316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800" dirty="0"/>
            </a:p>
          </p:txBody>
        </p:sp>
        <p:sp>
          <p:nvSpPr>
            <p:cNvPr id="18" name="Step 1 Icon Circle"/>
            <p:cNvSpPr/>
            <p:nvPr/>
          </p:nvSpPr>
          <p:spPr>
            <a:xfrm>
              <a:off x="2331720" y="2423160"/>
              <a:ext cx="502920" cy="502920"/>
            </a:xfrm>
            <a:prstGeom prst="ellipse">
              <a:avLst/>
            </a:prstGeom>
            <a:solidFill>
              <a:srgbClr val="E8F1FB"/>
            </a:solidFill>
            <a:ln w="12700">
              <a:solidFill>
                <a:srgbClr val="E8F1FB"/>
              </a:solidFill>
              <a:prstDash val="solid"/>
            </a:ln>
          </p:spPr>
        </p:sp>
        <p:pic>
          <p:nvPicPr>
            <p:cNvPr id="19" name="Step 1 Icon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9736" y="2551176"/>
              <a:ext cx="246888" cy="246888"/>
            </a:xfrm>
            <a:prstGeom prst="rect">
              <a:avLst/>
            </a:prstGeom>
          </p:spPr>
        </p:pic>
        <p:sp>
          <p:nvSpPr>
            <p:cNvPr id="20" name="Step 1 Title"/>
            <p:cNvSpPr txBox="1"/>
            <p:nvPr/>
          </p:nvSpPr>
          <p:spPr>
            <a:xfrm>
              <a:off x="777240" y="3154680"/>
              <a:ext cx="2057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235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Upload Traffic Video</a:t>
              </a:r>
              <a:endParaRPr lang="en-US" sz="1800" dirty="0"/>
            </a:p>
          </p:txBody>
        </p:sp>
        <p:sp>
          <p:nvSpPr>
            <p:cNvPr id="21" name="Step 1 Description"/>
            <p:cNvSpPr txBox="1"/>
            <p:nvPr/>
          </p:nvSpPr>
          <p:spPr>
            <a:xfrm>
              <a:off x="777240" y="3977640"/>
              <a:ext cx="205740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A5B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 uploads a traffic video file for analysis.</a:t>
              </a:r>
              <a:endParaRPr lang="en-US" sz="1400" dirty="0"/>
            </a:p>
          </p:txBody>
        </p:sp>
        <p:sp>
          <p:nvSpPr>
            <p:cNvPr id="22" name="Arrow 1-2"/>
            <p:cNvSpPr/>
            <p:nvPr/>
          </p:nvSpPr>
          <p:spPr>
            <a:xfrm>
              <a:off x="3118104" y="3840480"/>
              <a:ext cx="235610" cy="0"/>
            </a:xfrm>
            <a:prstGeom prst="line">
              <a:avLst/>
            </a:prstGeom>
            <a:noFill/>
            <a:ln w="28575">
              <a:solidFill>
                <a:srgbClr val="5B7A99"/>
              </a:solidFill>
              <a:prstDash val="solid"/>
              <a:tailEnd type="triangle"/>
            </a:ln>
          </p:spPr>
        </p:sp>
        <p:sp>
          <p:nvSpPr>
            <p:cNvPr id="23" name="Step 2 Card"/>
            <p:cNvSpPr/>
            <p:nvPr/>
          </p:nvSpPr>
          <p:spPr>
            <a:xfrm>
              <a:off x="3408578" y="2194560"/>
              <a:ext cx="2514600" cy="3291840"/>
            </a:xfrm>
            <a:prstGeom prst="roundRect">
              <a:avLst>
                <a:gd name="adj" fmla="val 4364"/>
              </a:avLst>
            </a:prstGeom>
            <a:solidFill>
              <a:srgbClr val="FFFFFF"/>
            </a:solidFill>
            <a:ln w="12700">
              <a:solidFill>
                <a:srgbClr val="D5DFEB"/>
              </a:solidFill>
              <a:prstDash val="solid"/>
            </a:ln>
            <a:effectLst>
              <a:outerShdw blurRad="101600" dist="25400" dir="5400000" algn="bl" rotWithShape="0">
                <a:srgbClr val="1F3A5F">
                  <a:alpha val="12000"/>
                </a:srgbClr>
              </a:outerShdw>
            </a:effectLst>
          </p:spPr>
        </p:sp>
        <p:sp>
          <p:nvSpPr>
            <p:cNvPr id="24" name="Step 2 Badge"/>
            <p:cNvSpPr/>
            <p:nvPr/>
          </p:nvSpPr>
          <p:spPr>
            <a:xfrm>
              <a:off x="3637178" y="2423160"/>
              <a:ext cx="502920" cy="502920"/>
            </a:xfrm>
            <a:prstGeom prst="ellipse">
              <a:avLst/>
            </a:prstGeom>
            <a:solidFill>
              <a:srgbClr val="12355B"/>
            </a:solidFill>
            <a:ln w="12700">
              <a:solidFill>
                <a:srgbClr val="12355B"/>
              </a:solidFill>
              <a:prstDash val="solid"/>
            </a:ln>
          </p:spPr>
        </p:sp>
        <p:sp>
          <p:nvSpPr>
            <p:cNvPr id="25" name="Step 2 Number"/>
            <p:cNvSpPr txBox="1"/>
            <p:nvPr/>
          </p:nvSpPr>
          <p:spPr>
            <a:xfrm>
              <a:off x="3637178" y="242316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800" dirty="0"/>
            </a:p>
          </p:txBody>
        </p:sp>
        <p:sp>
          <p:nvSpPr>
            <p:cNvPr id="26" name="Step 2 Icon Circle"/>
            <p:cNvSpPr/>
            <p:nvPr/>
          </p:nvSpPr>
          <p:spPr>
            <a:xfrm>
              <a:off x="5191658" y="2423160"/>
              <a:ext cx="502920" cy="502920"/>
            </a:xfrm>
            <a:prstGeom prst="ellipse">
              <a:avLst/>
            </a:prstGeom>
            <a:solidFill>
              <a:srgbClr val="E8F1FB"/>
            </a:solidFill>
            <a:ln w="12700">
              <a:solidFill>
                <a:srgbClr val="E8F1FB"/>
              </a:solidFill>
              <a:prstDash val="solid"/>
            </a:ln>
          </p:spPr>
        </p:sp>
        <p:pic>
          <p:nvPicPr>
            <p:cNvPr id="27" name="Step 2 Icon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19674" y="2551176"/>
              <a:ext cx="246888" cy="246888"/>
            </a:xfrm>
            <a:prstGeom prst="rect">
              <a:avLst/>
            </a:prstGeom>
          </p:spPr>
        </p:pic>
        <p:sp>
          <p:nvSpPr>
            <p:cNvPr id="28" name="Step 2 Title"/>
            <p:cNvSpPr txBox="1"/>
            <p:nvPr/>
          </p:nvSpPr>
          <p:spPr>
            <a:xfrm>
              <a:off x="3637178" y="3154680"/>
              <a:ext cx="2057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235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AI-Based Video Processing</a:t>
              </a:r>
              <a:endParaRPr lang="en-US" sz="1800" dirty="0"/>
            </a:p>
          </p:txBody>
        </p:sp>
        <p:sp>
          <p:nvSpPr>
            <p:cNvPr id="29" name="Step 2 Description"/>
            <p:cNvSpPr txBox="1"/>
            <p:nvPr/>
          </p:nvSpPr>
          <p:spPr>
            <a:xfrm>
              <a:off x="3637178" y="3977640"/>
              <a:ext cx="205740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A5B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and computer vision models process the video frame by frame.</a:t>
              </a:r>
              <a:endParaRPr lang="en-US" sz="1400" dirty="0"/>
            </a:p>
          </p:txBody>
        </p:sp>
        <p:sp>
          <p:nvSpPr>
            <p:cNvPr id="30" name="Arrow 2-3"/>
            <p:cNvSpPr/>
            <p:nvPr/>
          </p:nvSpPr>
          <p:spPr>
            <a:xfrm>
              <a:off x="5978042" y="3840480"/>
              <a:ext cx="235610" cy="0"/>
            </a:xfrm>
            <a:prstGeom prst="line">
              <a:avLst/>
            </a:prstGeom>
            <a:noFill/>
            <a:ln w="28575">
              <a:solidFill>
                <a:srgbClr val="5B7A99"/>
              </a:solidFill>
              <a:prstDash val="solid"/>
              <a:tailEnd type="triangle"/>
            </a:ln>
          </p:spPr>
        </p:sp>
        <p:sp>
          <p:nvSpPr>
            <p:cNvPr id="31" name="Step 3 Card"/>
            <p:cNvSpPr/>
            <p:nvPr/>
          </p:nvSpPr>
          <p:spPr>
            <a:xfrm>
              <a:off x="6268517" y="2194560"/>
              <a:ext cx="2514600" cy="3291840"/>
            </a:xfrm>
            <a:prstGeom prst="roundRect">
              <a:avLst>
                <a:gd name="adj" fmla="val 4364"/>
              </a:avLst>
            </a:prstGeom>
            <a:solidFill>
              <a:srgbClr val="FFFFFF"/>
            </a:solidFill>
            <a:ln w="12700">
              <a:solidFill>
                <a:srgbClr val="D5DFEB"/>
              </a:solidFill>
              <a:prstDash val="solid"/>
            </a:ln>
            <a:effectLst>
              <a:outerShdw blurRad="101600" dist="25400" dir="5400000" algn="bl" rotWithShape="0">
                <a:srgbClr val="1F3A5F">
                  <a:alpha val="12000"/>
                </a:srgbClr>
              </a:outerShdw>
            </a:effectLst>
          </p:spPr>
        </p:sp>
        <p:sp>
          <p:nvSpPr>
            <p:cNvPr id="32" name="Step 3 Badge"/>
            <p:cNvSpPr/>
            <p:nvPr/>
          </p:nvSpPr>
          <p:spPr>
            <a:xfrm>
              <a:off x="6497117" y="2423160"/>
              <a:ext cx="502920" cy="502920"/>
            </a:xfrm>
            <a:prstGeom prst="ellipse">
              <a:avLst/>
            </a:prstGeom>
            <a:solidFill>
              <a:srgbClr val="12355B"/>
            </a:solidFill>
            <a:ln w="12700">
              <a:solidFill>
                <a:srgbClr val="12355B"/>
              </a:solidFill>
              <a:prstDash val="solid"/>
            </a:ln>
          </p:spPr>
        </p:sp>
        <p:sp>
          <p:nvSpPr>
            <p:cNvPr id="33" name="Step 3 Number"/>
            <p:cNvSpPr txBox="1"/>
            <p:nvPr/>
          </p:nvSpPr>
          <p:spPr>
            <a:xfrm>
              <a:off x="6497117" y="242316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800" dirty="0"/>
            </a:p>
          </p:txBody>
        </p:sp>
        <p:sp>
          <p:nvSpPr>
            <p:cNvPr id="34" name="Step 3 Icon Circle"/>
            <p:cNvSpPr/>
            <p:nvPr/>
          </p:nvSpPr>
          <p:spPr>
            <a:xfrm>
              <a:off x="8051597" y="2423160"/>
              <a:ext cx="502920" cy="502920"/>
            </a:xfrm>
            <a:prstGeom prst="ellipse">
              <a:avLst/>
            </a:prstGeom>
            <a:solidFill>
              <a:srgbClr val="E8F1FB"/>
            </a:solidFill>
            <a:ln w="12700">
              <a:solidFill>
                <a:srgbClr val="E8F1FB"/>
              </a:solidFill>
              <a:prstDash val="solid"/>
            </a:ln>
          </p:spPr>
        </p:sp>
        <p:pic>
          <p:nvPicPr>
            <p:cNvPr id="35" name="Step 3 Icon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9613" y="2551176"/>
              <a:ext cx="246888" cy="246888"/>
            </a:xfrm>
            <a:prstGeom prst="rect">
              <a:avLst/>
            </a:prstGeom>
          </p:spPr>
        </p:pic>
        <p:sp>
          <p:nvSpPr>
            <p:cNvPr id="36" name="Step 3 Title"/>
            <p:cNvSpPr txBox="1"/>
            <p:nvPr/>
          </p:nvSpPr>
          <p:spPr>
            <a:xfrm>
              <a:off x="6497117" y="3154680"/>
              <a:ext cx="2057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235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Vehicle Detection and Traffic Analysis</a:t>
              </a:r>
              <a:endParaRPr lang="en-US" sz="1800" dirty="0"/>
            </a:p>
          </p:txBody>
        </p:sp>
        <p:sp>
          <p:nvSpPr>
            <p:cNvPr id="37" name="Step 3 Description"/>
            <p:cNvSpPr txBox="1"/>
            <p:nvPr/>
          </p:nvSpPr>
          <p:spPr>
            <a:xfrm>
              <a:off x="6497117" y="3977640"/>
              <a:ext cx="205740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A5B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Vehicles are detected, tracked and counted. Traffic density and congestion level are calculated.</a:t>
              </a:r>
              <a:endParaRPr lang="en-US" sz="1400" dirty="0"/>
            </a:p>
          </p:txBody>
        </p:sp>
        <p:sp>
          <p:nvSpPr>
            <p:cNvPr id="38" name="Chip Car"/>
            <p:cNvSpPr/>
            <p:nvPr/>
          </p:nvSpPr>
          <p:spPr>
            <a:xfrm>
              <a:off x="6497117" y="4983480"/>
              <a:ext cx="475488" cy="310896"/>
            </a:xfrm>
            <a:prstGeom prst="roundRect">
              <a:avLst>
                <a:gd name="adj" fmla="val 14706"/>
              </a:avLst>
            </a:prstGeom>
            <a:solidFill>
              <a:srgbClr val="E8F1FB"/>
            </a:solidFill>
            <a:ln w="12700">
              <a:solidFill>
                <a:srgbClr val="E8F1FB"/>
              </a:solidFill>
              <a:prstDash val="solid"/>
            </a:ln>
          </p:spPr>
        </p:sp>
        <p:sp>
          <p:nvSpPr>
            <p:cNvPr id="39" name="Chip Car Label"/>
            <p:cNvSpPr txBox="1"/>
            <p:nvPr/>
          </p:nvSpPr>
          <p:spPr>
            <a:xfrm>
              <a:off x="6497117" y="4983480"/>
              <a:ext cx="47548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A5B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Car </a:t>
              </a:r>
              <a:r>
                <a:rPr lang="en-US" sz="1000" b="1" dirty="0">
                  <a:solidFill>
                    <a:srgbClr val="1235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40" name="Chip Bike"/>
            <p:cNvSpPr/>
            <p:nvPr/>
          </p:nvSpPr>
          <p:spPr>
            <a:xfrm>
              <a:off x="7024421" y="4983480"/>
              <a:ext cx="475488" cy="310896"/>
            </a:xfrm>
            <a:prstGeom prst="roundRect">
              <a:avLst>
                <a:gd name="adj" fmla="val 14706"/>
              </a:avLst>
            </a:prstGeom>
            <a:solidFill>
              <a:srgbClr val="E8F1FB"/>
            </a:solidFill>
            <a:ln w="12700">
              <a:solidFill>
                <a:srgbClr val="E8F1FB"/>
              </a:solidFill>
              <a:prstDash val="solid"/>
            </a:ln>
          </p:spPr>
        </p:sp>
        <p:sp>
          <p:nvSpPr>
            <p:cNvPr id="41" name="Chip Bike Label"/>
            <p:cNvSpPr txBox="1"/>
            <p:nvPr/>
          </p:nvSpPr>
          <p:spPr>
            <a:xfrm>
              <a:off x="7024421" y="4983480"/>
              <a:ext cx="47548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A5B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Bike </a:t>
              </a:r>
              <a:r>
                <a:rPr lang="en-US" sz="1000" b="1" dirty="0">
                  <a:solidFill>
                    <a:srgbClr val="1235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28</a:t>
              </a:r>
              <a:endParaRPr lang="en-US" sz="1000" dirty="0"/>
            </a:p>
          </p:txBody>
        </p:sp>
        <p:sp>
          <p:nvSpPr>
            <p:cNvPr id="42" name="Chip Truck"/>
            <p:cNvSpPr/>
            <p:nvPr/>
          </p:nvSpPr>
          <p:spPr>
            <a:xfrm>
              <a:off x="7551725" y="4983480"/>
              <a:ext cx="475488" cy="310896"/>
            </a:xfrm>
            <a:prstGeom prst="roundRect">
              <a:avLst>
                <a:gd name="adj" fmla="val 14706"/>
              </a:avLst>
            </a:prstGeom>
            <a:solidFill>
              <a:srgbClr val="E8F1FB"/>
            </a:solidFill>
            <a:ln w="12700">
              <a:solidFill>
                <a:srgbClr val="E8F1FB"/>
              </a:solidFill>
              <a:prstDash val="solid"/>
            </a:ln>
          </p:spPr>
        </p:sp>
        <p:sp>
          <p:nvSpPr>
            <p:cNvPr id="43" name="Chip Truck Label"/>
            <p:cNvSpPr txBox="1"/>
            <p:nvPr/>
          </p:nvSpPr>
          <p:spPr>
            <a:xfrm>
              <a:off x="7551725" y="4983480"/>
              <a:ext cx="47548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A5B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Truck </a:t>
              </a:r>
              <a:r>
                <a:rPr lang="en-US" sz="1000" b="1" dirty="0">
                  <a:solidFill>
                    <a:srgbClr val="1235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</a:t>
              </a:r>
              <a:endParaRPr lang="en-US" sz="1000" dirty="0"/>
            </a:p>
          </p:txBody>
        </p:sp>
        <p:sp>
          <p:nvSpPr>
            <p:cNvPr id="44" name="Chip Bus"/>
            <p:cNvSpPr/>
            <p:nvPr/>
          </p:nvSpPr>
          <p:spPr>
            <a:xfrm>
              <a:off x="8079029" y="4983480"/>
              <a:ext cx="475488" cy="310896"/>
            </a:xfrm>
            <a:prstGeom prst="roundRect">
              <a:avLst>
                <a:gd name="adj" fmla="val 14706"/>
              </a:avLst>
            </a:prstGeom>
            <a:solidFill>
              <a:srgbClr val="E8F1FB"/>
            </a:solidFill>
            <a:ln w="12700">
              <a:solidFill>
                <a:srgbClr val="E8F1FB"/>
              </a:solidFill>
              <a:prstDash val="solid"/>
            </a:ln>
          </p:spPr>
        </p:sp>
        <p:sp>
          <p:nvSpPr>
            <p:cNvPr id="45" name="Chip Bus Label"/>
            <p:cNvSpPr txBox="1"/>
            <p:nvPr/>
          </p:nvSpPr>
          <p:spPr>
            <a:xfrm>
              <a:off x="8079029" y="4983480"/>
              <a:ext cx="47548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A5B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 </a:t>
              </a:r>
              <a:r>
                <a:rPr lang="en-US" sz="1000" b="1" dirty="0">
                  <a:solidFill>
                    <a:srgbClr val="1235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000" dirty="0"/>
            </a:p>
          </p:txBody>
        </p:sp>
        <p:sp>
          <p:nvSpPr>
            <p:cNvPr id="46" name="Arrow 3-4"/>
            <p:cNvSpPr/>
            <p:nvPr/>
          </p:nvSpPr>
          <p:spPr>
            <a:xfrm>
              <a:off x="8837981" y="3840480"/>
              <a:ext cx="235610" cy="0"/>
            </a:xfrm>
            <a:prstGeom prst="line">
              <a:avLst/>
            </a:prstGeom>
            <a:noFill/>
            <a:ln w="28575">
              <a:solidFill>
                <a:srgbClr val="5B7A99"/>
              </a:solidFill>
              <a:prstDash val="solid"/>
              <a:tailEnd type="triangle"/>
            </a:ln>
          </p:spPr>
        </p:sp>
        <p:sp>
          <p:nvSpPr>
            <p:cNvPr id="47" name="Step 4 Card"/>
            <p:cNvSpPr/>
            <p:nvPr/>
          </p:nvSpPr>
          <p:spPr>
            <a:xfrm>
              <a:off x="9128455" y="2194560"/>
              <a:ext cx="2514600" cy="3291840"/>
            </a:xfrm>
            <a:prstGeom prst="roundRect">
              <a:avLst>
                <a:gd name="adj" fmla="val 4364"/>
              </a:avLst>
            </a:prstGeom>
            <a:solidFill>
              <a:srgbClr val="FFFFFF"/>
            </a:solidFill>
            <a:ln w="12700">
              <a:solidFill>
                <a:srgbClr val="D5DFEB"/>
              </a:solidFill>
              <a:prstDash val="solid"/>
            </a:ln>
            <a:effectLst>
              <a:outerShdw blurRad="101600" dist="25400" dir="5400000" algn="bl" rotWithShape="0">
                <a:srgbClr val="1F3A5F">
                  <a:alpha val="12000"/>
                </a:srgbClr>
              </a:outerShdw>
            </a:effectLst>
          </p:spPr>
        </p:sp>
        <p:sp>
          <p:nvSpPr>
            <p:cNvPr id="48" name="Step 4 Badge"/>
            <p:cNvSpPr/>
            <p:nvPr/>
          </p:nvSpPr>
          <p:spPr>
            <a:xfrm>
              <a:off x="9357055" y="2423160"/>
              <a:ext cx="502920" cy="502920"/>
            </a:xfrm>
            <a:prstGeom prst="ellipse">
              <a:avLst/>
            </a:prstGeom>
            <a:solidFill>
              <a:srgbClr val="12355B"/>
            </a:solidFill>
            <a:ln w="12700">
              <a:solidFill>
                <a:srgbClr val="12355B"/>
              </a:solidFill>
              <a:prstDash val="solid"/>
            </a:ln>
          </p:spPr>
        </p:sp>
        <p:sp>
          <p:nvSpPr>
            <p:cNvPr id="49" name="Step 4 Number"/>
            <p:cNvSpPr txBox="1"/>
            <p:nvPr/>
          </p:nvSpPr>
          <p:spPr>
            <a:xfrm>
              <a:off x="9357055" y="242316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800" dirty="0"/>
            </a:p>
          </p:txBody>
        </p:sp>
        <p:sp>
          <p:nvSpPr>
            <p:cNvPr id="50" name="Step 4 Icon Circle"/>
            <p:cNvSpPr/>
            <p:nvPr/>
          </p:nvSpPr>
          <p:spPr>
            <a:xfrm>
              <a:off x="10911535" y="2423160"/>
              <a:ext cx="502920" cy="502920"/>
            </a:xfrm>
            <a:prstGeom prst="ellipse">
              <a:avLst/>
            </a:prstGeom>
            <a:solidFill>
              <a:srgbClr val="E8F1FB"/>
            </a:solidFill>
            <a:ln w="12700">
              <a:solidFill>
                <a:srgbClr val="E8F1FB"/>
              </a:solidFill>
              <a:prstDash val="solid"/>
            </a:ln>
          </p:spPr>
        </p:sp>
        <p:pic>
          <p:nvPicPr>
            <p:cNvPr id="51" name="Step 4 Icon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39551" y="2551176"/>
              <a:ext cx="246888" cy="246888"/>
            </a:xfrm>
            <a:prstGeom prst="rect">
              <a:avLst/>
            </a:prstGeom>
          </p:spPr>
        </p:pic>
        <p:sp>
          <p:nvSpPr>
            <p:cNvPr id="52" name="Step 4 Title"/>
            <p:cNvSpPr txBox="1"/>
            <p:nvPr/>
          </p:nvSpPr>
          <p:spPr>
            <a:xfrm>
              <a:off x="9357055" y="3154680"/>
              <a:ext cx="2057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235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View Results on Dashboard</a:t>
              </a:r>
              <a:endParaRPr lang="en-US" sz="1800" dirty="0"/>
            </a:p>
          </p:txBody>
        </p:sp>
        <p:sp>
          <p:nvSpPr>
            <p:cNvPr id="53" name="Step 4 Description"/>
            <p:cNvSpPr txBox="1"/>
            <p:nvPr/>
          </p:nvSpPr>
          <p:spPr>
            <a:xfrm>
              <a:off x="9357055" y="3977640"/>
              <a:ext cx="205740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A5B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Results, charts and traffic statistics are displayed on the web dashboard.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0792" y="5532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</a:rPr>
              <a:t>1. </a:t>
            </a:r>
            <a:r>
              <a:rPr lang="en-US" sz="3000" b="1" dirty="0" smtClean="0">
                <a:solidFill>
                  <a:srgbClr val="0B1F4D"/>
                </a:solidFill>
              </a:rPr>
              <a:t>Output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225296"/>
            <a:ext cx="11064240" cy="0"/>
          </a:xfrm>
          <a:prstGeom prst="line">
            <a:avLst/>
          </a:prstGeom>
          <a:noFill/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32103" y="1984248"/>
            <a:ext cx="5169451" cy="4055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20040" y="6405259"/>
            <a:ext cx="101822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600" b="0" dirty="0" smtClean="0">
                <a:solidFill>
                  <a:srgbClr val="464646"/>
                </a:solidFill>
                <a:latin typeface="Aptos"/>
              </a:rPr>
              <a:t>Oct </a:t>
            </a:r>
            <a:r>
              <a:rPr sz="1600" b="0" dirty="0" smtClean="0">
                <a:solidFill>
                  <a:srgbClr val="464646"/>
                </a:solidFill>
                <a:latin typeface="Aptos"/>
              </a:rPr>
              <a:t>2026</a:t>
            </a:r>
            <a:endParaRPr sz="1600" b="0" dirty="0">
              <a:solidFill>
                <a:srgbClr val="464646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429999" y="6248701"/>
            <a:ext cx="508715" cy="4721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/>
              <a:t>1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832103" y="1548348"/>
            <a:ext cx="6898171" cy="3554038"/>
            <a:chOff x="1125367" y="1899826"/>
            <a:chExt cx="7104233" cy="3244576"/>
          </a:xfrm>
        </p:grpSpPr>
        <p:sp>
          <p:nvSpPr>
            <p:cNvPr id="6" name="Shape 4"/>
            <p:cNvSpPr/>
            <p:nvPr/>
          </p:nvSpPr>
          <p:spPr>
            <a:xfrm>
              <a:off x="1125367" y="1899826"/>
              <a:ext cx="7104233" cy="3244576"/>
            </a:xfrm>
            <a:prstGeom prst="roundRect">
              <a:avLst>
                <a:gd name="adj" fmla="val 1622"/>
              </a:avLst>
            </a:prstGeom>
            <a:solidFill>
              <a:srgbClr val="F5F9FF"/>
            </a:solidFill>
            <a:ln w="15240">
              <a:solidFill>
                <a:srgbClr val="0B55BF"/>
              </a:solidFill>
              <a:prstDash val="solid"/>
            </a:ln>
          </p:spPr>
          <p:txBody>
            <a:bodyPr/>
            <a:lstStyle/>
            <a:p>
              <a:pPr algn="just"/>
              <a:endParaRPr dirty="0"/>
            </a:p>
          </p:txBody>
        </p:sp>
        <p:sp>
          <p:nvSpPr>
            <p:cNvPr id="4" name="Rectangle 1"/>
            <p:cNvSpPr>
              <a:spLocks noChangeArrowheads="1"/>
            </p:cNvSpPr>
            <p:nvPr/>
          </p:nvSpPr>
          <p:spPr bwMode="auto">
            <a:xfrm>
              <a:off x="1464280" y="2273027"/>
              <a:ext cx="5554706" cy="2585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</a:pPr>
              <a:r>
                <a:rPr kumimoji="0" lang="en-US" alt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Detects and tracks vehicles in traffic videos.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</a:pP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</a:pPr>
              <a:r>
                <a:rPr kumimoji="0" lang="en-US" alt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Displays total and category-wise vehicle counts.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</a:pP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</a:pPr>
              <a:r>
                <a:rPr kumimoji="0" lang="en-US" alt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Analyzes traffic density and congestion levels.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</a:pPr>
              <a:endParaRPr lang="en-US" altLang="en-US" dirty="0"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</a:pPr>
              <a:r>
                <a:rPr kumimoji="0" lang="en-US" alt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Generates visual reports and traffic statistics.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</a:pP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</a:pPr>
              <a:r>
                <a:rPr kumimoji="0" lang="en-US" alt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Displays analysis results on a web dashboard.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455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612">
              <a:srgbClr val="6E87B5">
                <a:alpha val="95000"/>
                <a:lumMod val="99000"/>
                <a:lumOff val="1000"/>
              </a:srgbClr>
            </a:gs>
            <a:gs pos="21225">
              <a:srgbClr val="314E85"/>
            </a:gs>
            <a:gs pos="11470">
              <a:srgbClr val="1B3974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587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6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612">
              <a:srgbClr val="6E87B5">
                <a:alpha val="95000"/>
                <a:lumMod val="99000"/>
                <a:lumOff val="1000"/>
              </a:srgbClr>
            </a:gs>
            <a:gs pos="21225">
              <a:srgbClr val="314E85"/>
            </a:gs>
            <a:gs pos="11470">
              <a:srgbClr val="1B3974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82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47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612">
              <a:srgbClr val="6E87B5">
                <a:alpha val="95000"/>
                <a:lumMod val="99000"/>
                <a:lumOff val="1000"/>
              </a:srgbClr>
            </a:gs>
            <a:gs pos="21225">
              <a:srgbClr val="314E85"/>
            </a:gs>
            <a:gs pos="11470">
              <a:srgbClr val="1B3974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88676" cy="573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0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612">
              <a:srgbClr val="6E87B5">
                <a:alpha val="95000"/>
                <a:lumMod val="99000"/>
                <a:lumOff val="1000"/>
              </a:srgbClr>
            </a:gs>
            <a:gs pos="21225">
              <a:srgbClr val="314E85"/>
            </a:gs>
            <a:gs pos="11470">
              <a:srgbClr val="1B3974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204293" cy="573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4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612">
              <a:srgbClr val="6E87B5">
                <a:alpha val="95000"/>
                <a:lumMod val="99000"/>
                <a:lumOff val="1000"/>
              </a:srgbClr>
            </a:gs>
            <a:gs pos="21225">
              <a:srgbClr val="314E85"/>
            </a:gs>
            <a:gs pos="11470">
              <a:srgbClr val="1B3974"/>
            </a:gs>
            <a:gs pos="0">
              <a:srgbClr val="00206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6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9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</a:rPr>
              <a:t>10. Limitations and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6B7A"/>
                </a:solidFill>
              </a:rPr>
              <a:t>Current boundaries and planned improvements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66928" y="1225296"/>
            <a:ext cx="11064240" cy="0"/>
          </a:xfrm>
          <a:prstGeom prst="line">
            <a:avLst/>
          </a:prstGeom>
          <a:noFill/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F5F9FF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23544" y="1527048"/>
            <a:ext cx="4873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23544" y="1892808"/>
            <a:ext cx="4873752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Currently depends on uploaded traffic videos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Detection accuracy may decrease in poor lighting or bad weather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Processing speed depends on video quality and hardware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Live CCTV integration is not yet implemented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Multi-road junction management needs further development.</a:t>
            </a:r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120640" cy="4526280"/>
          </a:xfrm>
          <a:prstGeom prst="roundRect">
            <a:avLst>
              <a:gd name="adj" fmla="val 1212"/>
            </a:avLst>
          </a:prstGeom>
          <a:solidFill>
            <a:srgbClr val="F5F9FF"/>
          </a:solidFill>
          <a:ln w="15240">
            <a:solidFill>
              <a:srgbClr val="08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09944" y="1527048"/>
            <a:ext cx="4828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7C86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9944" y="1892808"/>
            <a:ext cx="4828032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20040" y="6446520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Aptos"/>
              </a:rPr>
              <a:t>May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3783" y="6248701"/>
            <a:ext cx="44114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dirty="0" smtClean="0"/>
              <a:t>1</a:t>
            </a:r>
            <a:r>
              <a:rPr lang="en-US" sz="1800" b="0" dirty="0" smtClean="0"/>
              <a:t>5</a:t>
            </a:r>
            <a:endParaRPr sz="1800" b="0" dirty="0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409944" y="1994942"/>
            <a:ext cx="495003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live CCTV cameras for real-time monitoring.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multiple roads to a single junction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adaptive traffic signal control.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detection accuracy using advanced AI models.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emergency vehicle detection and priority management.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</a:rPr>
              <a:t>11. 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6B7A"/>
                </a:solidFill>
              </a:rPr>
              <a:t>Resources used during project development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66928" y="1225296"/>
            <a:ext cx="11064240" cy="0"/>
          </a:xfrm>
          <a:prstGeom prst="line">
            <a:avLst/>
          </a:prstGeom>
          <a:noFill/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10241280" cy="3977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172033"/>
                </a:solidFill>
              </a:rPr>
              <a:t>• MDN Web Docs for HTML, CSS and JavaScript
• Node.js official documentation
• Express.js official documentation
• MongoDB Atlas documentation
• W3Schools web development tutorials
• Inspiration from e-commerce websites like Amazon and Flipkart
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320040" y="6446520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Aptos"/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63783" y="6248701"/>
            <a:ext cx="44114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dirty="0" smtClean="0"/>
              <a:t>1</a:t>
            </a:r>
            <a:r>
              <a:rPr lang="en-US" sz="1800" b="0" dirty="0" smtClean="0"/>
              <a:t>6</a:t>
            </a:r>
            <a:endParaRPr sz="1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B1F4D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55BF"/>
                </a:solidFill>
              </a:rPr>
              <a:t>Questions?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28686" y="3207657"/>
            <a:ext cx="7155543" cy="925432"/>
          </a:xfrm>
          <a:prstGeom prst="roundRect">
            <a:avLst>
              <a:gd name="adj" fmla="val 13556"/>
            </a:avLst>
          </a:prstGeom>
          <a:solidFill>
            <a:srgbClr val="EEF5FF"/>
          </a:solidFill>
          <a:ln w="15240">
            <a:solidFill>
              <a:srgbClr val="0B55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063240" y="3364992"/>
            <a:ext cx="6358709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0B1F4D"/>
                </a:solidFill>
              </a:rPr>
              <a:t>Mr</a:t>
            </a:r>
            <a:r>
              <a:rPr lang="en-US" sz="2000" b="1" dirty="0">
                <a:solidFill>
                  <a:srgbClr val="0B1F4D"/>
                </a:solidFill>
              </a:rPr>
              <a:t>. Chhotelal Kushwaha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320040" y="6446520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Aptos"/>
              </a:rPr>
              <a:t>May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1663</Words>
  <Application>Microsoft Office PowerPoint</Application>
  <PresentationFormat>Widescreen</PresentationFormat>
  <Paragraphs>355</Paragraphs>
  <Slides>24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(Body)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HNBGU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ElectroShop</dc:title>
  <dc:subject>ElectroShop Mini Project Presentation</dc:subject>
  <dc:creator>Chhotelal Kushwaha</dc:creator>
  <cp:lastModifiedBy>Microsoft account</cp:lastModifiedBy>
  <cp:revision>39</cp:revision>
  <cp:lastPrinted>2026-05-24T12:31:37Z</cp:lastPrinted>
  <dcterms:created xsi:type="dcterms:W3CDTF">2026-05-23T11:05:03Z</dcterms:created>
  <dcterms:modified xsi:type="dcterms:W3CDTF">2026-10-21T13:50:04Z</dcterms:modified>
</cp:coreProperties>
</file>